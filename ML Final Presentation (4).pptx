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333" r:id="rId3"/>
    <p:sldId id="296" r:id="rId4"/>
    <p:sldId id="323" r:id="rId5"/>
    <p:sldId id="325" r:id="rId6"/>
    <p:sldId id="326" r:id="rId7"/>
    <p:sldId id="327" r:id="rId8"/>
    <p:sldId id="328" r:id="rId9"/>
    <p:sldId id="329" r:id="rId10"/>
    <p:sldId id="339" r:id="rId11"/>
    <p:sldId id="340" r:id="rId12"/>
    <p:sldId id="315" r:id="rId13"/>
    <p:sldId id="280" r:id="rId14"/>
    <p:sldId id="316" r:id="rId15"/>
    <p:sldId id="260" r:id="rId16"/>
    <p:sldId id="282" r:id="rId17"/>
    <p:sldId id="283" r:id="rId18"/>
    <p:sldId id="284" r:id="rId19"/>
    <p:sldId id="285" r:id="rId20"/>
    <p:sldId id="334" r:id="rId21"/>
    <p:sldId id="289" r:id="rId22"/>
    <p:sldId id="336" r:id="rId23"/>
    <p:sldId id="291" r:id="rId24"/>
    <p:sldId id="292" r:id="rId25"/>
    <p:sldId id="271" r:id="rId26"/>
    <p:sldId id="304" r:id="rId27"/>
    <p:sldId id="279" r:id="rId28"/>
    <p:sldId id="303" r:id="rId29"/>
    <p:sldId id="337" r:id="rId30"/>
    <p:sldId id="293" r:id="rId31"/>
    <p:sldId id="306" r:id="rId32"/>
    <p:sldId id="310" r:id="rId33"/>
    <p:sldId id="313" r:id="rId34"/>
    <p:sldId id="322" r:id="rId35"/>
    <p:sldId id="331" r:id="rId36"/>
    <p:sldId id="311" r:id="rId37"/>
    <p:sldId id="342" r:id="rId38"/>
    <p:sldId id="341" r:id="rId39"/>
    <p:sldId id="295" r:id="rId40"/>
    <p:sldId id="332" r:id="rId41"/>
    <p:sldId id="33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00" autoAdjust="0"/>
    <p:restoredTop sz="90799" autoAdjust="0"/>
  </p:normalViewPr>
  <p:slideViewPr>
    <p:cSldViewPr snapToGrid="0">
      <p:cViewPr varScale="1">
        <p:scale>
          <a:sx n="57" d="100"/>
          <a:sy n="57" d="100"/>
        </p:scale>
        <p:origin x="1236" y="4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053C44-EDE6-4E1D-82EC-8FC712536D1F}" type="doc">
      <dgm:prSet loTypeId="urn:microsoft.com/office/officeart/2005/8/layout/chevron1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8372DA6-EC5D-49CD-86F8-395468051563}">
      <dgm:prSet/>
      <dgm:spPr/>
      <dgm:t>
        <a:bodyPr/>
        <a:lstStyle/>
        <a:p>
          <a:pPr algn="l"/>
          <a:r>
            <a: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 A: Anomaly Detection for Credit Card Frauds</a:t>
          </a:r>
        </a:p>
      </dgm:t>
    </dgm:pt>
    <dgm:pt modelId="{E32E6C71-1358-4363-A043-41E6FD5B0BE3}" type="parTrans" cxnId="{56B36D6D-BB18-408A-81CB-6B2397CF5ABD}">
      <dgm:prSet/>
      <dgm:spPr/>
      <dgm:t>
        <a:bodyPr/>
        <a:lstStyle/>
        <a:p>
          <a:endParaRPr lang="en-US"/>
        </a:p>
      </dgm:t>
    </dgm:pt>
    <dgm:pt modelId="{1C0EC13B-2FBD-4E7C-9109-85468FDF8E63}" type="sibTrans" cxnId="{56B36D6D-BB18-408A-81CB-6B2397CF5ABD}">
      <dgm:prSet/>
      <dgm:spPr/>
      <dgm:t>
        <a:bodyPr/>
        <a:lstStyle/>
        <a:p>
          <a:endParaRPr lang="en-US"/>
        </a:p>
      </dgm:t>
    </dgm:pt>
    <dgm:pt modelId="{3C713F85-AF0D-449C-8145-5D0259E854F8}">
      <dgm:prSet/>
      <dgm:spPr/>
      <dgm:t>
        <a:bodyPr/>
        <a:lstStyle/>
        <a:p>
          <a: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fraud and normal data to detect frauds</a:t>
          </a:r>
          <a:b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F8C3732-9BD4-4326-BDDF-7F9ED2952E33}" type="parTrans" cxnId="{6ED99CBC-0CE9-4C6F-8934-FA56612C0082}">
      <dgm:prSet/>
      <dgm:spPr/>
      <dgm:t>
        <a:bodyPr/>
        <a:lstStyle/>
        <a:p>
          <a:endParaRPr lang="en-US"/>
        </a:p>
      </dgm:t>
    </dgm:pt>
    <dgm:pt modelId="{0EC720B0-1B74-4B81-B792-569F04F8C2D7}" type="sibTrans" cxnId="{6ED99CBC-0CE9-4C6F-8934-FA56612C0082}">
      <dgm:prSet/>
      <dgm:spPr/>
      <dgm:t>
        <a:bodyPr/>
        <a:lstStyle/>
        <a:p>
          <a:endParaRPr lang="en-US"/>
        </a:p>
      </dgm:t>
    </dgm:pt>
    <dgm:pt modelId="{B9A92CBB-3D45-4420-B34D-1019A9C28DCA}">
      <dgm:prSet/>
      <dgm:spPr/>
      <dgm:t>
        <a:bodyPr/>
        <a:lstStyle/>
        <a:p>
          <a:pPr algn="l"/>
          <a:r>
            <a: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 B: Novelty Detection for Credit Card Frauds</a:t>
          </a:r>
        </a:p>
      </dgm:t>
    </dgm:pt>
    <dgm:pt modelId="{46EFEEEB-3EF4-4884-A7E9-7DCBEF9E18A1}" type="parTrans" cxnId="{65EC975A-250A-45E2-8D44-5C860BBD8480}">
      <dgm:prSet/>
      <dgm:spPr/>
      <dgm:t>
        <a:bodyPr/>
        <a:lstStyle/>
        <a:p>
          <a:endParaRPr lang="en-US"/>
        </a:p>
      </dgm:t>
    </dgm:pt>
    <dgm:pt modelId="{B0C7405E-05CF-4D8E-B260-AE99309C0AC2}" type="sibTrans" cxnId="{65EC975A-250A-45E2-8D44-5C860BBD8480}">
      <dgm:prSet/>
      <dgm:spPr/>
      <dgm:t>
        <a:bodyPr/>
        <a:lstStyle/>
        <a:p>
          <a:endParaRPr lang="en-US"/>
        </a:p>
      </dgm:t>
    </dgm:pt>
    <dgm:pt modelId="{EBFFA471-8610-4802-90F3-DF82417AAF9D}">
      <dgm:prSet custT="1"/>
      <dgm:spPr/>
      <dgm:t>
        <a:bodyPr/>
        <a:lstStyle/>
        <a:p>
          <a: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only normal data to construct boundaries to then filter out frauds.</a:t>
          </a:r>
          <a:b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0F9A265-B708-4D4E-9326-CC423CCE27AC}" type="parTrans" cxnId="{34CB45AB-DBC7-4DDE-956F-E5BA059480F8}">
      <dgm:prSet/>
      <dgm:spPr/>
      <dgm:t>
        <a:bodyPr/>
        <a:lstStyle/>
        <a:p>
          <a:endParaRPr lang="en-US"/>
        </a:p>
      </dgm:t>
    </dgm:pt>
    <dgm:pt modelId="{59B9BAA3-19BC-41B8-9C1A-2A3D41B2E8AC}" type="sibTrans" cxnId="{34CB45AB-DBC7-4DDE-956F-E5BA059480F8}">
      <dgm:prSet/>
      <dgm:spPr/>
      <dgm:t>
        <a:bodyPr/>
        <a:lstStyle/>
        <a:p>
          <a:endParaRPr lang="en-US"/>
        </a:p>
      </dgm:t>
    </dgm:pt>
    <dgm:pt modelId="{3C13F7ED-7A9F-4949-9812-0F24A23ED923}">
      <dgm:prSet/>
      <dgm:spPr/>
      <dgm:t>
        <a:bodyPr/>
        <a:lstStyle/>
        <a:p>
          <a:pPr algn="l"/>
          <a:r>
            <a: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 C: Analyzing Fraudulent Credit Card Transaction</a:t>
          </a:r>
        </a:p>
      </dgm:t>
    </dgm:pt>
    <dgm:pt modelId="{87B7012C-BE2C-47EE-B953-1884B5F2A33F}" type="parTrans" cxnId="{6F575D50-F29B-4035-A444-CFFEB9CB3BF3}">
      <dgm:prSet/>
      <dgm:spPr/>
      <dgm:t>
        <a:bodyPr/>
        <a:lstStyle/>
        <a:p>
          <a:endParaRPr lang="en-US"/>
        </a:p>
      </dgm:t>
    </dgm:pt>
    <dgm:pt modelId="{D706687E-9914-4613-9414-F13EC1DCB58A}" type="sibTrans" cxnId="{6F575D50-F29B-4035-A444-CFFEB9CB3BF3}">
      <dgm:prSet/>
      <dgm:spPr/>
      <dgm:t>
        <a:bodyPr/>
        <a:lstStyle/>
        <a:p>
          <a:endParaRPr lang="en-US"/>
        </a:p>
      </dgm:t>
    </dgm:pt>
    <dgm:pt modelId="{847F4F7C-4FEF-4416-BF4C-79143DD4FEFE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</a:t>
          </a:r>
          <a:r>
            <a:rPr lang="en-US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 classifier to detect frauds.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2DF59BA-FC8C-455D-83A5-B13E712AA57A}" type="parTrans" cxnId="{13C3C49B-BA49-4816-9681-9121E7859B0B}">
      <dgm:prSet/>
      <dgm:spPr/>
      <dgm:t>
        <a:bodyPr/>
        <a:lstStyle/>
        <a:p>
          <a:endParaRPr lang="en-US"/>
        </a:p>
      </dgm:t>
    </dgm:pt>
    <dgm:pt modelId="{3F772D17-65EF-4169-9827-254D97E0D358}" type="sibTrans" cxnId="{13C3C49B-BA49-4816-9681-9121E7859B0B}">
      <dgm:prSet/>
      <dgm:spPr/>
      <dgm:t>
        <a:bodyPr/>
        <a:lstStyle/>
        <a:p>
          <a:endParaRPr lang="en-US"/>
        </a:p>
      </dgm:t>
    </dgm:pt>
    <dgm:pt modelId="{8FF4A514-D891-4E6A-849D-08F523A5DF7C}">
      <dgm:prSet/>
      <dgm:spPr/>
      <dgm:t>
        <a:bodyPr/>
        <a:lstStyle/>
        <a:p>
          <a:r>
            <a:rPr lang="en-US" sz="19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Manually label fraud data into three risk categories</a:t>
          </a:r>
          <a:br>
            <a:rPr lang="en-US" sz="19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D4A44D3-B3AB-4EF5-8593-4669C3CA68DD}" type="parTrans" cxnId="{056B489E-CD65-4030-B318-7EFC64F94096}">
      <dgm:prSet/>
      <dgm:spPr/>
      <dgm:t>
        <a:bodyPr/>
        <a:lstStyle/>
        <a:p>
          <a:endParaRPr lang="en-US"/>
        </a:p>
      </dgm:t>
    </dgm:pt>
    <dgm:pt modelId="{10AF7C51-946B-4438-AE4F-810625ACF4F8}" type="sibTrans" cxnId="{056B489E-CD65-4030-B318-7EFC64F94096}">
      <dgm:prSet/>
      <dgm:spPr/>
      <dgm:t>
        <a:bodyPr/>
        <a:lstStyle/>
        <a:p>
          <a:endParaRPr lang="en-US"/>
        </a:p>
      </dgm:t>
    </dgm:pt>
    <dgm:pt modelId="{F9B26B94-A848-4F48-9865-8D54693B27BF}">
      <dgm:prSet/>
      <dgm:spPr/>
      <dgm:t>
        <a:bodyPr/>
        <a:lstStyle/>
        <a:p>
          <a: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Problems:</a:t>
          </a:r>
        </a:p>
      </dgm:t>
    </dgm:pt>
    <dgm:pt modelId="{1DA68F89-8FB6-42CE-BBB8-E22FE9D58513}" type="parTrans" cxnId="{D4A71FD8-0C52-45BA-A8C7-CE6D55E66EFD}">
      <dgm:prSet/>
      <dgm:spPr/>
      <dgm:t>
        <a:bodyPr/>
        <a:lstStyle/>
        <a:p>
          <a:endParaRPr lang="en-US"/>
        </a:p>
      </dgm:t>
    </dgm:pt>
    <dgm:pt modelId="{2E433A4E-EC35-4104-B49D-CE85218DD7DA}" type="sibTrans" cxnId="{D4A71FD8-0C52-45BA-A8C7-CE6D55E66EFD}">
      <dgm:prSet/>
      <dgm:spPr/>
      <dgm:t>
        <a:bodyPr/>
        <a:lstStyle/>
        <a:p>
          <a:endParaRPr lang="en-US"/>
        </a:p>
      </dgm:t>
    </dgm:pt>
    <dgm:pt modelId="{79656561-5759-4ACA-BF24-55633D055C5C}">
      <dgm:prSet/>
      <dgm:spPr/>
      <dgm:t>
        <a:bodyPr/>
        <a:lstStyle/>
        <a:p>
          <a:endParaRPr lang="en-US" sz="1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070E0FE-9DE4-4E10-9A64-438D781D0504}" type="parTrans" cxnId="{174B00F0-BB42-4D46-BA9E-16861F7AFB09}">
      <dgm:prSet/>
      <dgm:spPr/>
      <dgm:t>
        <a:bodyPr/>
        <a:lstStyle/>
        <a:p>
          <a:endParaRPr lang="en-US"/>
        </a:p>
      </dgm:t>
    </dgm:pt>
    <dgm:pt modelId="{E6159471-0D06-422B-A7A6-57E5F5D4D12D}" type="sibTrans" cxnId="{174B00F0-BB42-4D46-BA9E-16861F7AFB09}">
      <dgm:prSet/>
      <dgm:spPr/>
      <dgm:t>
        <a:bodyPr/>
        <a:lstStyle/>
        <a:p>
          <a:endParaRPr lang="en-US"/>
        </a:p>
      </dgm:t>
    </dgm:pt>
    <dgm:pt modelId="{486A5687-BFBC-4502-9F7C-64C9241269B5}">
      <dgm:prSet custT="1"/>
      <dgm:spPr/>
      <dgm:t>
        <a:bodyPr/>
        <a:lstStyle/>
        <a:p>
          <a: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New idea, instead of manually labelling, can we automate this process?</a:t>
          </a:r>
          <a:b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5A28495-82C7-4416-A5EC-9C2978A38679}" type="parTrans" cxnId="{44A2770C-6D96-47A1-803F-2D40EE0DA1CF}">
      <dgm:prSet/>
      <dgm:spPr/>
      <dgm:t>
        <a:bodyPr/>
        <a:lstStyle/>
        <a:p>
          <a:endParaRPr lang="en-US"/>
        </a:p>
      </dgm:t>
    </dgm:pt>
    <dgm:pt modelId="{D80F49B2-E70D-47E1-9B87-D0E67BA8EF9C}" type="sibTrans" cxnId="{44A2770C-6D96-47A1-803F-2D40EE0DA1CF}">
      <dgm:prSet/>
      <dgm:spPr/>
      <dgm:t>
        <a:bodyPr/>
        <a:lstStyle/>
        <a:p>
          <a:endParaRPr lang="en-US"/>
        </a:p>
      </dgm:t>
    </dgm:pt>
    <dgm:pt modelId="{99026F48-0B99-4DC3-9BE9-9B0F62A9D155}">
      <dgm:prSet custT="1"/>
      <dgm:spPr/>
      <dgm:t>
        <a:bodyPr/>
        <a:lstStyle/>
        <a:p>
          <a:r>
            <a: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Problems:</a:t>
          </a:r>
        </a:p>
      </dgm:t>
    </dgm:pt>
    <dgm:pt modelId="{C65147FE-BB77-4FEB-B932-081DAA004C45}" type="parTrans" cxnId="{214CBB0D-B374-4665-8C56-7AF6B808A9CD}">
      <dgm:prSet/>
      <dgm:spPr/>
      <dgm:t>
        <a:bodyPr/>
        <a:lstStyle/>
        <a:p>
          <a:endParaRPr lang="en-US"/>
        </a:p>
      </dgm:t>
    </dgm:pt>
    <dgm:pt modelId="{12DD16B4-62FB-4D50-8159-5F60CAA497DE}" type="sibTrans" cxnId="{214CBB0D-B374-4665-8C56-7AF6B808A9CD}">
      <dgm:prSet/>
      <dgm:spPr/>
      <dgm:t>
        <a:bodyPr/>
        <a:lstStyle/>
        <a:p>
          <a:endParaRPr lang="en-US"/>
        </a:p>
      </dgm:t>
    </dgm:pt>
    <dgm:pt modelId="{D49C5A71-AFEF-4DEC-B912-4240E8FD1F6A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Very poor results on Novelty Detection approach.</a:t>
          </a:r>
        </a:p>
      </dgm:t>
    </dgm:pt>
    <dgm:pt modelId="{8844DB4F-A2BA-4D47-91E2-E0C8B753C883}" type="parTrans" cxnId="{EF6560D7-FC62-4991-AD5F-880980FBD89A}">
      <dgm:prSet/>
      <dgm:spPr/>
      <dgm:t>
        <a:bodyPr/>
        <a:lstStyle/>
        <a:p>
          <a:endParaRPr lang="en-US"/>
        </a:p>
      </dgm:t>
    </dgm:pt>
    <dgm:pt modelId="{A5D91BDB-87CA-475C-8F54-5BBC61D35E0B}" type="sibTrans" cxnId="{EF6560D7-FC62-4991-AD5F-880980FBD89A}">
      <dgm:prSet/>
      <dgm:spPr/>
      <dgm:t>
        <a:bodyPr/>
        <a:lstStyle/>
        <a:p>
          <a:endParaRPr lang="en-US"/>
        </a:p>
      </dgm:t>
    </dgm:pt>
    <dgm:pt modelId="{DF0E0A6D-3C68-41AB-93E2-768510A6999D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Contamination Rate &lt; 0.58%</a:t>
          </a:r>
        </a:p>
      </dgm:t>
    </dgm:pt>
    <dgm:pt modelId="{BA80267B-4423-4D16-B5C5-C037C3D02532}" type="parTrans" cxnId="{89BE647F-083C-4FBA-8DD8-3EBB44C019E5}">
      <dgm:prSet/>
      <dgm:spPr/>
      <dgm:t>
        <a:bodyPr/>
        <a:lstStyle/>
        <a:p>
          <a:endParaRPr lang="en-US"/>
        </a:p>
      </dgm:t>
    </dgm:pt>
    <dgm:pt modelId="{CAC72E8A-73A1-4DFA-98E5-C336BCC88A37}" type="sibTrans" cxnId="{89BE647F-083C-4FBA-8DD8-3EBB44C019E5}">
      <dgm:prSet/>
      <dgm:spPr/>
      <dgm:t>
        <a:bodyPr/>
        <a:lstStyle/>
        <a:p>
          <a:endParaRPr lang="en-US"/>
        </a:p>
      </dgm:t>
    </dgm:pt>
    <dgm:pt modelId="{38C8205F-B152-416F-B9F2-F8EB4975013C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domain knowledge</a:t>
          </a:r>
        </a:p>
      </dgm:t>
    </dgm:pt>
    <dgm:pt modelId="{CFBFCE8A-14BE-4246-B6FF-84ED58B45B24}" type="parTrans" cxnId="{8D0BB70F-54FA-4BF2-8FA8-49510A8D08FF}">
      <dgm:prSet/>
      <dgm:spPr/>
      <dgm:t>
        <a:bodyPr/>
        <a:lstStyle/>
        <a:p>
          <a:endParaRPr lang="en-US"/>
        </a:p>
      </dgm:t>
    </dgm:pt>
    <dgm:pt modelId="{E494265D-EF75-47C8-9DF0-60CB5A30EB14}" type="sibTrans" cxnId="{8D0BB70F-54FA-4BF2-8FA8-49510A8D08FF}">
      <dgm:prSet/>
      <dgm:spPr/>
      <dgm:t>
        <a:bodyPr/>
        <a:lstStyle/>
        <a:p>
          <a:endParaRPr lang="en-US"/>
        </a:p>
      </dgm:t>
    </dgm:pt>
    <dgm:pt modelId="{951DC156-B6B6-4247-947A-95613A7B6AE6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Any wrongdoing will reset the whole process.</a:t>
          </a:r>
        </a:p>
      </dgm:t>
    </dgm:pt>
    <dgm:pt modelId="{65DAC76C-7E90-4FF0-A2F7-892412933FDF}" type="parTrans" cxnId="{3E05A213-DB85-41B3-8C2D-A9DD24FDCFD7}">
      <dgm:prSet/>
      <dgm:spPr/>
      <dgm:t>
        <a:bodyPr/>
        <a:lstStyle/>
        <a:p>
          <a:endParaRPr lang="en-US"/>
        </a:p>
      </dgm:t>
    </dgm:pt>
    <dgm:pt modelId="{9DB0C325-5E41-4FBF-8D44-81BC34DE41CC}" type="sibTrans" cxnId="{3E05A213-DB85-41B3-8C2D-A9DD24FDCFD7}">
      <dgm:prSet/>
      <dgm:spPr/>
      <dgm:t>
        <a:bodyPr/>
        <a:lstStyle/>
        <a:p>
          <a:endParaRPr lang="en-US"/>
        </a:p>
      </dgm:t>
    </dgm:pt>
    <dgm:pt modelId="{61DDC313-1143-4607-96DF-AB61A983266B}">
      <dgm:prSet/>
      <dgm:spPr/>
      <dgm:t>
        <a:bodyPr/>
        <a:lstStyle/>
        <a:p>
          <a:endParaRPr lang="en-US" sz="17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9507ECD-2D58-4E0F-865D-0C6FDB7FA1B0}" type="parTrans" cxnId="{8D8AC41B-90B3-429E-BDF0-07944AA5C912}">
      <dgm:prSet/>
      <dgm:spPr/>
      <dgm:t>
        <a:bodyPr/>
        <a:lstStyle/>
        <a:p>
          <a:endParaRPr lang="en-US"/>
        </a:p>
      </dgm:t>
    </dgm:pt>
    <dgm:pt modelId="{6806FAE5-8294-4F9D-BA55-C4E22AA9BA0B}" type="sibTrans" cxnId="{8D8AC41B-90B3-429E-BDF0-07944AA5C912}">
      <dgm:prSet/>
      <dgm:spPr/>
      <dgm:t>
        <a:bodyPr/>
        <a:lstStyle/>
        <a:p>
          <a:endParaRPr lang="en-US"/>
        </a:p>
      </dgm:t>
    </dgm:pt>
    <dgm:pt modelId="{91E5DAE9-C56A-4A7E-BF65-6085117600D7}">
      <dgm:prSet custT="1"/>
      <dgm:spPr/>
      <dgm:t>
        <a:bodyPr/>
        <a:lstStyle/>
        <a:p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5C1EAF8-F49D-4B23-8437-C8AB8BAC4950}" type="parTrans" cxnId="{FFF29F01-350A-4153-830E-58473694CC73}">
      <dgm:prSet/>
      <dgm:spPr/>
      <dgm:t>
        <a:bodyPr/>
        <a:lstStyle/>
        <a:p>
          <a:endParaRPr lang="en-US"/>
        </a:p>
      </dgm:t>
    </dgm:pt>
    <dgm:pt modelId="{FD5D40F8-B59F-45E2-BBFA-5BC6365590B7}" type="sibTrans" cxnId="{FFF29F01-350A-4153-830E-58473694CC73}">
      <dgm:prSet/>
      <dgm:spPr/>
      <dgm:t>
        <a:bodyPr/>
        <a:lstStyle/>
        <a:p>
          <a:endParaRPr lang="en-US"/>
        </a:p>
      </dgm:t>
    </dgm:pt>
    <dgm:pt modelId="{EB273FF7-18DD-49D7-9AE2-EC66163B558B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Automate plan A? through clustering!</a:t>
          </a:r>
        </a:p>
      </dgm:t>
    </dgm:pt>
    <dgm:pt modelId="{BEF7CA39-73DE-4371-99E3-919FB6D39B17}" type="parTrans" cxnId="{CEBA0A3E-BFA5-4882-962B-629CE6C2947B}">
      <dgm:prSet/>
      <dgm:spPr/>
      <dgm:t>
        <a:bodyPr/>
        <a:lstStyle/>
        <a:p>
          <a:endParaRPr lang="en-US"/>
        </a:p>
      </dgm:t>
    </dgm:pt>
    <dgm:pt modelId="{6FD5042E-7D90-429C-94D1-F4F3DD522CB3}" type="sibTrans" cxnId="{CEBA0A3E-BFA5-4882-962B-629CE6C2947B}">
      <dgm:prSet/>
      <dgm:spPr/>
      <dgm:t>
        <a:bodyPr/>
        <a:lstStyle/>
        <a:p>
          <a:endParaRPr lang="en-US"/>
        </a:p>
      </dgm:t>
    </dgm:pt>
    <dgm:pt modelId="{8009C175-2BA0-4837-A448-D1E80CC72A76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Separate frauds into three risk categories</a:t>
          </a:r>
        </a:p>
      </dgm:t>
    </dgm:pt>
    <dgm:pt modelId="{9F65934B-6FED-4763-8EF0-312CE19783B5}" type="parTrans" cxnId="{D645D329-8E4F-4A14-A0D4-C4B47DD95F28}">
      <dgm:prSet/>
      <dgm:spPr/>
      <dgm:t>
        <a:bodyPr/>
        <a:lstStyle/>
        <a:p>
          <a:endParaRPr lang="en-US"/>
        </a:p>
      </dgm:t>
    </dgm:pt>
    <dgm:pt modelId="{E0046266-6EA0-48CA-9550-3B440FF4BB22}" type="sibTrans" cxnId="{D645D329-8E4F-4A14-A0D4-C4B47DD95F28}">
      <dgm:prSet/>
      <dgm:spPr/>
      <dgm:t>
        <a:bodyPr/>
        <a:lstStyle/>
        <a:p>
          <a:endParaRPr lang="en-US"/>
        </a:p>
      </dgm:t>
    </dgm:pt>
    <dgm:pt modelId="{CD5DAAFD-557B-46D0-A764-B6020E904429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Heavily focused on how to understand model’s behavior</a:t>
          </a:r>
        </a:p>
      </dgm:t>
    </dgm:pt>
    <dgm:pt modelId="{5469FAF5-2616-4B81-9D37-59C26B561559}" type="parTrans" cxnId="{EA840910-4EFA-49BF-BACE-1478C8D811EB}">
      <dgm:prSet/>
      <dgm:spPr/>
      <dgm:t>
        <a:bodyPr/>
        <a:lstStyle/>
        <a:p>
          <a:endParaRPr lang="en-US"/>
        </a:p>
      </dgm:t>
    </dgm:pt>
    <dgm:pt modelId="{960D3E7D-FF3B-4BB3-B0A9-FC803E1847B7}" type="sibTrans" cxnId="{EA840910-4EFA-49BF-BACE-1478C8D811EB}">
      <dgm:prSet/>
      <dgm:spPr/>
      <dgm:t>
        <a:bodyPr/>
        <a:lstStyle/>
        <a:p>
          <a:endParaRPr lang="en-US"/>
        </a:p>
      </dgm:t>
    </dgm:pt>
    <dgm:pt modelId="{4ABE9A3D-D424-4F90-B1E7-BA915C20ECFF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Can’t move forward with labeling due to poor results</a:t>
          </a:r>
        </a:p>
      </dgm:t>
    </dgm:pt>
    <dgm:pt modelId="{99EE949C-6A4A-44E3-A8C4-8F18DB072859}" type="parTrans" cxnId="{51427E25-D08D-4897-BEEB-3AA90B0AD607}">
      <dgm:prSet/>
      <dgm:spPr/>
      <dgm:t>
        <a:bodyPr/>
        <a:lstStyle/>
        <a:p>
          <a:endParaRPr lang="en-US"/>
        </a:p>
      </dgm:t>
    </dgm:pt>
    <dgm:pt modelId="{8FDAF751-9A03-4BAF-AC6B-841EBB9D2F71}" type="sibTrans" cxnId="{51427E25-D08D-4897-BEEB-3AA90B0AD607}">
      <dgm:prSet/>
      <dgm:spPr/>
      <dgm:t>
        <a:bodyPr/>
        <a:lstStyle/>
        <a:p>
          <a:endParaRPr lang="en-US"/>
        </a:p>
      </dgm:t>
    </dgm:pt>
    <dgm:pt modelId="{8EDB8B18-1327-48D5-B406-7C4FFEFC3A37}">
      <dgm:prSet custT="1"/>
      <dgm:spPr/>
      <dgm:t>
        <a:bodyPr/>
        <a:lstStyle/>
        <a:p>
          <a:r>
            <a: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Dataset Size &gt; 1M sample</a:t>
          </a:r>
        </a:p>
      </dgm:t>
    </dgm:pt>
    <dgm:pt modelId="{CD9D0713-7F52-4E15-87C5-97144F0FD8C4}" type="parTrans" cxnId="{48FECF7F-B206-4F82-8F5C-300B02480F51}">
      <dgm:prSet/>
      <dgm:spPr/>
      <dgm:t>
        <a:bodyPr/>
        <a:lstStyle/>
        <a:p>
          <a:endParaRPr lang="en-US"/>
        </a:p>
      </dgm:t>
    </dgm:pt>
    <dgm:pt modelId="{8CA44C33-F862-4949-BDC4-F244A5EE7DBF}" type="sibTrans" cxnId="{48FECF7F-B206-4F82-8F5C-300B02480F51}">
      <dgm:prSet/>
      <dgm:spPr/>
      <dgm:t>
        <a:bodyPr/>
        <a:lstStyle/>
        <a:p>
          <a:endParaRPr lang="en-US"/>
        </a:p>
      </dgm:t>
    </dgm:pt>
    <dgm:pt modelId="{F2946E12-4454-4D50-8D88-8E27971E701D}">
      <dgm:prSet/>
      <dgm:spPr/>
      <dgm:t>
        <a:bodyPr/>
        <a:lstStyle/>
        <a:p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285183A-2CBD-4C96-978D-12394BEFD3AB}" type="parTrans" cxnId="{6CEF8EE9-6FF3-47FB-8650-A5AC1D2DE0D3}">
      <dgm:prSet/>
      <dgm:spPr/>
      <dgm:t>
        <a:bodyPr/>
        <a:lstStyle/>
        <a:p>
          <a:endParaRPr lang="en-US"/>
        </a:p>
      </dgm:t>
    </dgm:pt>
    <dgm:pt modelId="{58B74275-541B-434E-BD7D-F5E29FF3F8E5}" type="sibTrans" cxnId="{6CEF8EE9-6FF3-47FB-8650-A5AC1D2DE0D3}">
      <dgm:prSet/>
      <dgm:spPr/>
      <dgm:t>
        <a:bodyPr/>
        <a:lstStyle/>
        <a:p>
          <a:endParaRPr lang="en-US"/>
        </a:p>
      </dgm:t>
    </dgm:pt>
    <dgm:pt modelId="{D35708E8-9890-4691-956B-B97EA636F56A}">
      <dgm:prSet/>
      <dgm:spPr/>
      <dgm:t>
        <a:bodyPr/>
        <a:lstStyle/>
        <a:p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2EB0DB6-D11A-4AE5-A79A-7C6D1CC84D9B}" type="parTrans" cxnId="{63A32429-8A8D-48AB-9AC2-742205C3DFA0}">
      <dgm:prSet/>
      <dgm:spPr/>
      <dgm:t>
        <a:bodyPr/>
        <a:lstStyle/>
        <a:p>
          <a:endParaRPr lang="en-US"/>
        </a:p>
      </dgm:t>
    </dgm:pt>
    <dgm:pt modelId="{6D6FF089-EB99-4246-AA7A-82050BB1B19C}" type="sibTrans" cxnId="{63A32429-8A8D-48AB-9AC2-742205C3DFA0}">
      <dgm:prSet/>
      <dgm:spPr/>
      <dgm:t>
        <a:bodyPr/>
        <a:lstStyle/>
        <a:p>
          <a:endParaRPr lang="en-US"/>
        </a:p>
      </dgm:t>
    </dgm:pt>
    <dgm:pt modelId="{3F87FF48-9049-4B07-BED2-A67D3A89AD29}">
      <dgm:prSet/>
      <dgm:spPr/>
      <dgm:t>
        <a:bodyPr/>
        <a:lstStyle/>
        <a:p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4C89AC2-8CEC-471A-91DE-3C60BC004866}" type="parTrans" cxnId="{5276EF56-4149-492A-94A0-2371A38F0049}">
      <dgm:prSet/>
      <dgm:spPr/>
      <dgm:t>
        <a:bodyPr/>
        <a:lstStyle/>
        <a:p>
          <a:endParaRPr lang="en-US"/>
        </a:p>
      </dgm:t>
    </dgm:pt>
    <dgm:pt modelId="{537EC043-8454-4292-A003-F1DFC01392A6}" type="sibTrans" cxnId="{5276EF56-4149-492A-94A0-2371A38F0049}">
      <dgm:prSet/>
      <dgm:spPr/>
      <dgm:t>
        <a:bodyPr/>
        <a:lstStyle/>
        <a:p>
          <a:endParaRPr lang="en-US"/>
        </a:p>
      </dgm:t>
    </dgm:pt>
    <dgm:pt modelId="{CE9CED1F-6BA1-42E4-AFAD-838BB3BAB4CB}" type="pres">
      <dgm:prSet presAssocID="{6E053C44-EDE6-4E1D-82EC-8FC712536D1F}" presName="Name0" presStyleCnt="0">
        <dgm:presLayoutVars>
          <dgm:dir/>
          <dgm:animLvl val="lvl"/>
          <dgm:resizeHandles val="exact"/>
        </dgm:presLayoutVars>
      </dgm:prSet>
      <dgm:spPr/>
    </dgm:pt>
    <dgm:pt modelId="{A54602EE-3E37-451E-BB3C-E8FEEC7A78D5}" type="pres">
      <dgm:prSet presAssocID="{48372DA6-EC5D-49CD-86F8-395468051563}" presName="composite" presStyleCnt="0"/>
      <dgm:spPr/>
    </dgm:pt>
    <dgm:pt modelId="{48ACF843-7C90-4DB4-918B-83061CC198CE}" type="pres">
      <dgm:prSet presAssocID="{48372DA6-EC5D-49CD-86F8-395468051563}" presName="parTx" presStyleLbl="node1" presStyleIdx="0" presStyleCnt="3" custLinFactNeighborX="-4661">
        <dgm:presLayoutVars>
          <dgm:chMax val="0"/>
          <dgm:chPref val="0"/>
          <dgm:bulletEnabled val="1"/>
        </dgm:presLayoutVars>
      </dgm:prSet>
      <dgm:spPr/>
    </dgm:pt>
    <dgm:pt modelId="{6DDC1723-8132-44B4-B081-588036A6EF5F}" type="pres">
      <dgm:prSet presAssocID="{48372DA6-EC5D-49CD-86F8-395468051563}" presName="desTx" presStyleLbl="revTx" presStyleIdx="0" presStyleCnt="3" custScaleX="111396">
        <dgm:presLayoutVars>
          <dgm:bulletEnabled val="1"/>
        </dgm:presLayoutVars>
      </dgm:prSet>
      <dgm:spPr/>
    </dgm:pt>
    <dgm:pt modelId="{BD8D5E1B-2231-4616-A3A5-2A37B0E9D82E}" type="pres">
      <dgm:prSet presAssocID="{1C0EC13B-2FBD-4E7C-9109-85468FDF8E63}" presName="space" presStyleCnt="0"/>
      <dgm:spPr/>
    </dgm:pt>
    <dgm:pt modelId="{D8DCB623-7B67-47B4-AD65-2BD51A028642}" type="pres">
      <dgm:prSet presAssocID="{B9A92CBB-3D45-4420-B34D-1019A9C28DCA}" presName="composite" presStyleCnt="0"/>
      <dgm:spPr/>
    </dgm:pt>
    <dgm:pt modelId="{63524F7D-4D89-4643-8B06-4EE1380B3FEC}" type="pres">
      <dgm:prSet presAssocID="{B9A92CBB-3D45-4420-B34D-1019A9C28DCA}" presName="parTx" presStyleLbl="node1" presStyleIdx="1" presStyleCnt="3" custLinFactNeighborX="-7819">
        <dgm:presLayoutVars>
          <dgm:chMax val="0"/>
          <dgm:chPref val="0"/>
          <dgm:bulletEnabled val="1"/>
        </dgm:presLayoutVars>
      </dgm:prSet>
      <dgm:spPr/>
    </dgm:pt>
    <dgm:pt modelId="{05EC0EA0-1534-41B0-868A-700D4ACC5219}" type="pres">
      <dgm:prSet presAssocID="{B9A92CBB-3D45-4420-B34D-1019A9C28DCA}" presName="desTx" presStyleLbl="revTx" presStyleIdx="1" presStyleCnt="3" custScaleX="113327">
        <dgm:presLayoutVars>
          <dgm:bulletEnabled val="1"/>
        </dgm:presLayoutVars>
      </dgm:prSet>
      <dgm:spPr/>
    </dgm:pt>
    <dgm:pt modelId="{944AF9E7-538C-4E84-9299-2FBFD63ADE84}" type="pres">
      <dgm:prSet presAssocID="{B0C7405E-05CF-4D8E-B260-AE99309C0AC2}" presName="space" presStyleCnt="0"/>
      <dgm:spPr/>
    </dgm:pt>
    <dgm:pt modelId="{B87F57A8-1C96-49E3-982E-9EA48D2F0943}" type="pres">
      <dgm:prSet presAssocID="{3C13F7ED-7A9F-4949-9812-0F24A23ED923}" presName="composite" presStyleCnt="0"/>
      <dgm:spPr/>
    </dgm:pt>
    <dgm:pt modelId="{599FDE49-D426-420C-A5B1-9208A85389D9}" type="pres">
      <dgm:prSet presAssocID="{3C13F7ED-7A9F-4949-9812-0F24A23ED923}" presName="parTx" presStyleLbl="node1" presStyleIdx="2" presStyleCnt="3" custLinFactNeighborX="-11104">
        <dgm:presLayoutVars>
          <dgm:chMax val="0"/>
          <dgm:chPref val="0"/>
          <dgm:bulletEnabled val="1"/>
        </dgm:presLayoutVars>
      </dgm:prSet>
      <dgm:spPr/>
    </dgm:pt>
    <dgm:pt modelId="{A34116A5-A0AC-43DC-AC44-557E37E24891}" type="pres">
      <dgm:prSet presAssocID="{3C13F7ED-7A9F-4949-9812-0F24A23ED923}" presName="desTx" presStyleLbl="revTx" presStyleIdx="2" presStyleCnt="3" custScaleX="127037" custLinFactNeighborX="8037">
        <dgm:presLayoutVars>
          <dgm:bulletEnabled val="1"/>
        </dgm:presLayoutVars>
      </dgm:prSet>
      <dgm:spPr/>
    </dgm:pt>
  </dgm:ptLst>
  <dgm:cxnLst>
    <dgm:cxn modelId="{FFF29F01-350A-4153-830E-58473694CC73}" srcId="{99026F48-0B99-4DC3-9BE9-9B0F62A9D155}" destId="{91E5DAE9-C56A-4A7E-BF65-6085117600D7}" srcOrd="2" destOrd="0" parTransId="{D5C1EAF8-F49D-4B23-8437-C8AB8BAC4950}" sibTransId="{FD5D40F8-B59F-45E2-BBFA-5BC6365590B7}"/>
    <dgm:cxn modelId="{44A2770C-6D96-47A1-803F-2D40EE0DA1CF}" srcId="{B9A92CBB-3D45-4420-B34D-1019A9C28DCA}" destId="{486A5687-BFBC-4502-9F7C-64C9241269B5}" srcOrd="1" destOrd="0" parTransId="{25A28495-82C7-4416-A5EC-9C2978A38679}" sibTransId="{D80F49B2-E70D-47E1-9B87-D0E67BA8EF9C}"/>
    <dgm:cxn modelId="{214CBB0D-B374-4665-8C56-7AF6B808A9CD}" srcId="{B9A92CBB-3D45-4420-B34D-1019A9C28DCA}" destId="{99026F48-0B99-4DC3-9BE9-9B0F62A9D155}" srcOrd="2" destOrd="0" parTransId="{C65147FE-BB77-4FEB-B932-081DAA004C45}" sibTransId="{12DD16B4-62FB-4D50-8159-5F60CAA497DE}"/>
    <dgm:cxn modelId="{8D0BB70F-54FA-4BF2-8FA8-49510A8D08FF}" srcId="{F9B26B94-A848-4F48-9865-8D54693B27BF}" destId="{38C8205F-B152-416F-B9F2-F8EB4975013C}" srcOrd="2" destOrd="0" parTransId="{CFBFCE8A-14BE-4246-B6FF-84ED58B45B24}" sibTransId="{E494265D-EF75-47C8-9DF0-60CB5A30EB14}"/>
    <dgm:cxn modelId="{EA840910-4EFA-49BF-BACE-1478C8D811EB}" srcId="{3C13F7ED-7A9F-4949-9812-0F24A23ED923}" destId="{CD5DAAFD-557B-46D0-A764-B6020E904429}" srcOrd="6" destOrd="0" parTransId="{5469FAF5-2616-4B81-9D37-59C26B561559}" sibTransId="{960D3E7D-FF3B-4BB3-B0A9-FC803E1847B7}"/>
    <dgm:cxn modelId="{8CF33213-E3B0-4CB3-82C7-8C12C6D7F51E}" type="presOf" srcId="{D35708E8-9890-4691-956B-B97EA636F56A}" destId="{A34116A5-A0AC-43DC-AC44-557E37E24891}" srcOrd="0" destOrd="3" presId="urn:microsoft.com/office/officeart/2005/8/layout/chevron1"/>
    <dgm:cxn modelId="{3E05A213-DB85-41B3-8C2D-A9DD24FDCFD7}" srcId="{F9B26B94-A848-4F48-9865-8D54693B27BF}" destId="{951DC156-B6B6-4247-947A-95613A7B6AE6}" srcOrd="3" destOrd="0" parTransId="{65DAC76C-7E90-4FF0-A2F7-892412933FDF}" sibTransId="{9DB0C325-5E41-4FBF-8D44-81BC34DE41CC}"/>
    <dgm:cxn modelId="{C35DB616-E9A1-4E7A-B835-CB417E56E100}" type="presOf" srcId="{EBFFA471-8610-4802-90F3-DF82417AAF9D}" destId="{05EC0EA0-1534-41B0-868A-700D4ACC5219}" srcOrd="0" destOrd="0" presId="urn:microsoft.com/office/officeart/2005/8/layout/chevron1"/>
    <dgm:cxn modelId="{77C05F1B-CDDD-4BDF-9F87-FABA90D75397}" type="presOf" srcId="{951DC156-B6B6-4247-947A-95613A7B6AE6}" destId="{6DDC1723-8132-44B4-B081-588036A6EF5F}" srcOrd="0" destOrd="6" presId="urn:microsoft.com/office/officeart/2005/8/layout/chevron1"/>
    <dgm:cxn modelId="{8D8AC41B-90B3-429E-BDF0-07944AA5C912}" srcId="{99026F48-0B99-4DC3-9BE9-9B0F62A9D155}" destId="{61DDC313-1143-4607-96DF-AB61A983266B}" srcOrd="3" destOrd="0" parTransId="{79507ECD-2D58-4E0F-865D-0C6FDB7FA1B0}" sibTransId="{6806FAE5-8294-4F9D-BA55-C4E22AA9BA0B}"/>
    <dgm:cxn modelId="{FDD0C324-BBD0-43BA-9118-939532058856}" type="presOf" srcId="{CD5DAAFD-557B-46D0-A764-B6020E904429}" destId="{A34116A5-A0AC-43DC-AC44-557E37E24891}" srcOrd="0" destOrd="6" presId="urn:microsoft.com/office/officeart/2005/8/layout/chevron1"/>
    <dgm:cxn modelId="{51427E25-D08D-4897-BEEB-3AA90B0AD607}" srcId="{99026F48-0B99-4DC3-9BE9-9B0F62A9D155}" destId="{4ABE9A3D-D424-4F90-B1E7-BA915C20ECFF}" srcOrd="1" destOrd="0" parTransId="{99EE949C-6A4A-44E3-A8C4-8F18DB072859}" sibTransId="{8FDAF751-9A03-4BAF-AC6B-841EBB9D2F71}"/>
    <dgm:cxn modelId="{63A32429-8A8D-48AB-9AC2-742205C3DFA0}" srcId="{3C13F7ED-7A9F-4949-9812-0F24A23ED923}" destId="{D35708E8-9890-4691-956B-B97EA636F56A}" srcOrd="3" destOrd="0" parTransId="{82EB0DB6-D11A-4AE5-A79A-7C6D1CC84D9B}" sibTransId="{6D6FF089-EB99-4246-AA7A-82050BB1B19C}"/>
    <dgm:cxn modelId="{D645D329-8E4F-4A14-A0D4-C4B47DD95F28}" srcId="{3C13F7ED-7A9F-4949-9812-0F24A23ED923}" destId="{8009C175-2BA0-4837-A448-D1E80CC72A76}" srcOrd="4" destOrd="0" parTransId="{9F65934B-6FED-4763-8EF0-312CE19783B5}" sibTransId="{E0046266-6EA0-48CA-9550-3B440FF4BB22}"/>
    <dgm:cxn modelId="{F98A5C2A-D1D8-4508-A3E1-4919800F693A}" type="presOf" srcId="{3C713F85-AF0D-449C-8145-5D0259E854F8}" destId="{6DDC1723-8132-44B4-B081-588036A6EF5F}" srcOrd="0" destOrd="0" presId="urn:microsoft.com/office/officeart/2005/8/layout/chevron1"/>
    <dgm:cxn modelId="{5D52FB2F-39E8-4295-B2D8-99254B4566DD}" type="presOf" srcId="{8009C175-2BA0-4837-A448-D1E80CC72A76}" destId="{A34116A5-A0AC-43DC-AC44-557E37E24891}" srcOrd="0" destOrd="4" presId="urn:microsoft.com/office/officeart/2005/8/layout/chevron1"/>
    <dgm:cxn modelId="{986E0431-BA2D-4008-9232-69859C0AF6D0}" type="presOf" srcId="{91E5DAE9-C56A-4A7E-BF65-6085117600D7}" destId="{05EC0EA0-1534-41B0-868A-700D4ACC5219}" srcOrd="0" destOrd="5" presId="urn:microsoft.com/office/officeart/2005/8/layout/chevron1"/>
    <dgm:cxn modelId="{9AE46B3D-70E3-4B4B-A307-1B1B0CE61FD3}" type="presOf" srcId="{8EDB8B18-1327-48D5-B406-7C4FFEFC3A37}" destId="{6DDC1723-8132-44B4-B081-588036A6EF5F}" srcOrd="0" destOrd="4" presId="urn:microsoft.com/office/officeart/2005/8/layout/chevron1"/>
    <dgm:cxn modelId="{CEBA0A3E-BFA5-4882-962B-629CE6C2947B}" srcId="{3C13F7ED-7A9F-4949-9812-0F24A23ED923}" destId="{EB273FF7-18DD-49D7-9AE2-EC66163B558B}" srcOrd="2" destOrd="0" parTransId="{BEF7CA39-73DE-4371-99E3-919FB6D39B17}" sibTransId="{6FD5042E-7D90-429C-94D1-F4F3DD522CB3}"/>
    <dgm:cxn modelId="{BB0B773E-1FD0-4C6B-A128-B21606B8C56B}" type="presOf" srcId="{61DDC313-1143-4607-96DF-AB61A983266B}" destId="{05EC0EA0-1534-41B0-868A-700D4ACC5219}" srcOrd="0" destOrd="6" presId="urn:microsoft.com/office/officeart/2005/8/layout/chevron1"/>
    <dgm:cxn modelId="{A66F5147-4B1E-44A3-9EE2-079789D5594B}" type="presOf" srcId="{F2946E12-4454-4D50-8D88-8E27971E701D}" destId="{A34116A5-A0AC-43DC-AC44-557E37E24891}" srcOrd="0" destOrd="1" presId="urn:microsoft.com/office/officeart/2005/8/layout/chevron1"/>
    <dgm:cxn modelId="{56B36D6D-BB18-408A-81CB-6B2397CF5ABD}" srcId="{6E053C44-EDE6-4E1D-82EC-8FC712536D1F}" destId="{48372DA6-EC5D-49CD-86F8-395468051563}" srcOrd="0" destOrd="0" parTransId="{E32E6C71-1358-4363-A043-41E6FD5B0BE3}" sibTransId="{1C0EC13B-2FBD-4E7C-9109-85468FDF8E63}"/>
    <dgm:cxn modelId="{B81CDC6E-4E02-42A2-A21C-D14DC5A62FA9}" type="presOf" srcId="{F9B26B94-A848-4F48-9865-8D54693B27BF}" destId="{6DDC1723-8132-44B4-B081-588036A6EF5F}" srcOrd="0" destOrd="2" presId="urn:microsoft.com/office/officeart/2005/8/layout/chevron1"/>
    <dgm:cxn modelId="{6F575D50-F29B-4035-A444-CFFEB9CB3BF3}" srcId="{6E053C44-EDE6-4E1D-82EC-8FC712536D1F}" destId="{3C13F7ED-7A9F-4949-9812-0F24A23ED923}" srcOrd="2" destOrd="0" parTransId="{87B7012C-BE2C-47EE-B953-1884B5F2A33F}" sibTransId="{D706687E-9914-4613-9414-F13EC1DCB58A}"/>
    <dgm:cxn modelId="{07BA4572-0F45-4007-BCF1-5F9CBA3C4517}" type="presOf" srcId="{B9A92CBB-3D45-4420-B34D-1019A9C28DCA}" destId="{63524F7D-4D89-4643-8B06-4EE1380B3FEC}" srcOrd="0" destOrd="0" presId="urn:microsoft.com/office/officeart/2005/8/layout/chevron1"/>
    <dgm:cxn modelId="{E70D6873-5A52-4048-983E-799850A12A3E}" type="presOf" srcId="{8FF4A514-D891-4E6A-849D-08F523A5DF7C}" destId="{6DDC1723-8132-44B4-B081-588036A6EF5F}" srcOrd="0" destOrd="1" presId="urn:microsoft.com/office/officeart/2005/8/layout/chevron1"/>
    <dgm:cxn modelId="{5276EF56-4149-492A-94A0-2371A38F0049}" srcId="{3C13F7ED-7A9F-4949-9812-0F24A23ED923}" destId="{3F87FF48-9049-4B07-BED2-A67D3A89AD29}" srcOrd="5" destOrd="0" parTransId="{E4C89AC2-8CEC-471A-91DE-3C60BC004866}" sibTransId="{537EC043-8454-4292-A003-F1DFC01392A6}"/>
    <dgm:cxn modelId="{7350CD79-3063-4A8F-A07D-892A51D5A262}" type="presOf" srcId="{99026F48-0B99-4DC3-9BE9-9B0F62A9D155}" destId="{05EC0EA0-1534-41B0-868A-700D4ACC5219}" srcOrd="0" destOrd="2" presId="urn:microsoft.com/office/officeart/2005/8/layout/chevron1"/>
    <dgm:cxn modelId="{65EC975A-250A-45E2-8D44-5C860BBD8480}" srcId="{6E053C44-EDE6-4E1D-82EC-8FC712536D1F}" destId="{B9A92CBB-3D45-4420-B34D-1019A9C28DCA}" srcOrd="1" destOrd="0" parTransId="{46EFEEEB-3EF4-4884-A7E9-7DCBEF9E18A1}" sibTransId="{B0C7405E-05CF-4D8E-B260-AE99309C0AC2}"/>
    <dgm:cxn modelId="{89BE647F-083C-4FBA-8DD8-3EBB44C019E5}" srcId="{F9B26B94-A848-4F48-9865-8D54693B27BF}" destId="{DF0E0A6D-3C68-41AB-93E2-768510A6999D}" srcOrd="0" destOrd="0" parTransId="{BA80267B-4423-4D16-B5C5-C037C3D02532}" sibTransId="{CAC72E8A-73A1-4DFA-98E5-C336BCC88A37}"/>
    <dgm:cxn modelId="{48FECF7F-B206-4F82-8F5C-300B02480F51}" srcId="{F9B26B94-A848-4F48-9865-8D54693B27BF}" destId="{8EDB8B18-1327-48D5-B406-7C4FFEFC3A37}" srcOrd="1" destOrd="0" parTransId="{CD9D0713-7F52-4E15-87C5-97144F0FD8C4}" sibTransId="{8CA44C33-F862-4949-BDC4-F244A5EE7DBF}"/>
    <dgm:cxn modelId="{0A254D87-0893-4899-83D1-EAC62FDBA75B}" type="presOf" srcId="{DF0E0A6D-3C68-41AB-93E2-768510A6999D}" destId="{6DDC1723-8132-44B4-B081-588036A6EF5F}" srcOrd="0" destOrd="3" presId="urn:microsoft.com/office/officeart/2005/8/layout/chevron1"/>
    <dgm:cxn modelId="{7613A48B-CB09-4971-9719-C668EDC1B619}" type="presOf" srcId="{48372DA6-EC5D-49CD-86F8-395468051563}" destId="{48ACF843-7C90-4DB4-918B-83061CC198CE}" srcOrd="0" destOrd="0" presId="urn:microsoft.com/office/officeart/2005/8/layout/chevron1"/>
    <dgm:cxn modelId="{CCD01B8C-CA1F-4A75-A0A2-FAF4F4C89D43}" type="presOf" srcId="{6E053C44-EDE6-4E1D-82EC-8FC712536D1F}" destId="{CE9CED1F-6BA1-42E4-AFAD-838BB3BAB4CB}" srcOrd="0" destOrd="0" presId="urn:microsoft.com/office/officeart/2005/8/layout/chevron1"/>
    <dgm:cxn modelId="{7687A291-2945-4267-ACDC-DEEE5157160A}" type="presOf" srcId="{EB273FF7-18DD-49D7-9AE2-EC66163B558B}" destId="{A34116A5-A0AC-43DC-AC44-557E37E24891}" srcOrd="0" destOrd="2" presId="urn:microsoft.com/office/officeart/2005/8/layout/chevron1"/>
    <dgm:cxn modelId="{13C3C49B-BA49-4816-9681-9121E7859B0B}" srcId="{3C13F7ED-7A9F-4949-9812-0F24A23ED923}" destId="{847F4F7C-4FEF-4416-BF4C-79143DD4FEFE}" srcOrd="0" destOrd="0" parTransId="{12DF59BA-FC8C-455D-83A5-B13E712AA57A}" sibTransId="{3F772D17-65EF-4169-9827-254D97E0D358}"/>
    <dgm:cxn modelId="{056B489E-CD65-4030-B318-7EFC64F94096}" srcId="{48372DA6-EC5D-49CD-86F8-395468051563}" destId="{8FF4A514-D891-4E6A-849D-08F523A5DF7C}" srcOrd="1" destOrd="0" parTransId="{6D4A44D3-B3AB-4EF5-8593-4669C3CA68DD}" sibTransId="{10AF7C51-946B-4438-AE4F-810625ACF4F8}"/>
    <dgm:cxn modelId="{0ACB02A7-9FF8-4D6B-B3CB-C88DF7007455}" type="presOf" srcId="{847F4F7C-4FEF-4416-BF4C-79143DD4FEFE}" destId="{A34116A5-A0AC-43DC-AC44-557E37E24891}" srcOrd="0" destOrd="0" presId="urn:microsoft.com/office/officeart/2005/8/layout/chevron1"/>
    <dgm:cxn modelId="{21E11AA8-3D79-4F81-A3B6-C2B8EC92E140}" type="presOf" srcId="{D49C5A71-AFEF-4DEC-B912-4240E8FD1F6A}" destId="{05EC0EA0-1534-41B0-868A-700D4ACC5219}" srcOrd="0" destOrd="3" presId="urn:microsoft.com/office/officeart/2005/8/layout/chevron1"/>
    <dgm:cxn modelId="{A9A815AB-EE6C-4FAC-946D-653F3A665D05}" type="presOf" srcId="{3F87FF48-9049-4B07-BED2-A67D3A89AD29}" destId="{A34116A5-A0AC-43DC-AC44-557E37E24891}" srcOrd="0" destOrd="5" presId="urn:microsoft.com/office/officeart/2005/8/layout/chevron1"/>
    <dgm:cxn modelId="{34CB45AB-DBC7-4DDE-956F-E5BA059480F8}" srcId="{B9A92CBB-3D45-4420-B34D-1019A9C28DCA}" destId="{EBFFA471-8610-4802-90F3-DF82417AAF9D}" srcOrd="0" destOrd="0" parTransId="{30F9A265-B708-4D4E-9326-CC423CCE27AC}" sibTransId="{59B9BAA3-19BC-41B8-9C1A-2A3D41B2E8AC}"/>
    <dgm:cxn modelId="{0DA89EB2-F78F-4ABE-A34D-CF6117901693}" type="presOf" srcId="{3C13F7ED-7A9F-4949-9812-0F24A23ED923}" destId="{599FDE49-D426-420C-A5B1-9208A85389D9}" srcOrd="0" destOrd="0" presId="urn:microsoft.com/office/officeart/2005/8/layout/chevron1"/>
    <dgm:cxn modelId="{352941B9-B953-4AC1-984A-D388F7120A74}" type="presOf" srcId="{4ABE9A3D-D424-4F90-B1E7-BA915C20ECFF}" destId="{05EC0EA0-1534-41B0-868A-700D4ACC5219}" srcOrd="0" destOrd="4" presId="urn:microsoft.com/office/officeart/2005/8/layout/chevron1"/>
    <dgm:cxn modelId="{A75284BB-5909-4009-9863-9195644A513D}" type="presOf" srcId="{79656561-5759-4ACA-BF24-55633D055C5C}" destId="{6DDC1723-8132-44B4-B081-588036A6EF5F}" srcOrd="0" destOrd="7" presId="urn:microsoft.com/office/officeart/2005/8/layout/chevron1"/>
    <dgm:cxn modelId="{6ED99CBC-0CE9-4C6F-8934-FA56612C0082}" srcId="{48372DA6-EC5D-49CD-86F8-395468051563}" destId="{3C713F85-AF0D-449C-8145-5D0259E854F8}" srcOrd="0" destOrd="0" parTransId="{DF8C3732-9BD4-4326-BDDF-7F9ED2952E33}" sibTransId="{0EC720B0-1B74-4B81-B792-569F04F8C2D7}"/>
    <dgm:cxn modelId="{A22F81C6-3F82-43EA-A627-6141B1CFE031}" type="presOf" srcId="{38C8205F-B152-416F-B9F2-F8EB4975013C}" destId="{6DDC1723-8132-44B4-B081-588036A6EF5F}" srcOrd="0" destOrd="5" presId="urn:microsoft.com/office/officeart/2005/8/layout/chevron1"/>
    <dgm:cxn modelId="{93CB42C7-E079-4D78-B48D-8319029535A9}" type="presOf" srcId="{486A5687-BFBC-4502-9F7C-64C9241269B5}" destId="{05EC0EA0-1534-41B0-868A-700D4ACC5219}" srcOrd="0" destOrd="1" presId="urn:microsoft.com/office/officeart/2005/8/layout/chevron1"/>
    <dgm:cxn modelId="{EF6560D7-FC62-4991-AD5F-880980FBD89A}" srcId="{99026F48-0B99-4DC3-9BE9-9B0F62A9D155}" destId="{D49C5A71-AFEF-4DEC-B912-4240E8FD1F6A}" srcOrd="0" destOrd="0" parTransId="{8844DB4F-A2BA-4D47-91E2-E0C8B753C883}" sibTransId="{A5D91BDB-87CA-475C-8F54-5BBC61D35E0B}"/>
    <dgm:cxn modelId="{D4A71FD8-0C52-45BA-A8C7-CE6D55E66EFD}" srcId="{48372DA6-EC5D-49CD-86F8-395468051563}" destId="{F9B26B94-A848-4F48-9865-8D54693B27BF}" srcOrd="2" destOrd="0" parTransId="{1DA68F89-8FB6-42CE-BBB8-E22FE9D58513}" sibTransId="{2E433A4E-EC35-4104-B49D-CE85218DD7DA}"/>
    <dgm:cxn modelId="{6CEF8EE9-6FF3-47FB-8650-A5AC1D2DE0D3}" srcId="{3C13F7ED-7A9F-4949-9812-0F24A23ED923}" destId="{F2946E12-4454-4D50-8D88-8E27971E701D}" srcOrd="1" destOrd="0" parTransId="{3285183A-2CBD-4C96-978D-12394BEFD3AB}" sibTransId="{58B74275-541B-434E-BD7D-F5E29FF3F8E5}"/>
    <dgm:cxn modelId="{174B00F0-BB42-4D46-BA9E-16861F7AFB09}" srcId="{F9B26B94-A848-4F48-9865-8D54693B27BF}" destId="{79656561-5759-4ACA-BF24-55633D055C5C}" srcOrd="4" destOrd="0" parTransId="{9070E0FE-9DE4-4E10-9A64-438D781D0504}" sibTransId="{E6159471-0D06-422B-A7A6-57E5F5D4D12D}"/>
    <dgm:cxn modelId="{753321E3-DF29-4727-9FDB-3DC453F9D454}" type="presParOf" srcId="{CE9CED1F-6BA1-42E4-AFAD-838BB3BAB4CB}" destId="{A54602EE-3E37-451E-BB3C-E8FEEC7A78D5}" srcOrd="0" destOrd="0" presId="urn:microsoft.com/office/officeart/2005/8/layout/chevron1"/>
    <dgm:cxn modelId="{B6683028-AE3A-46C9-A0FB-DE99EE879A85}" type="presParOf" srcId="{A54602EE-3E37-451E-BB3C-E8FEEC7A78D5}" destId="{48ACF843-7C90-4DB4-918B-83061CC198CE}" srcOrd="0" destOrd="0" presId="urn:microsoft.com/office/officeart/2005/8/layout/chevron1"/>
    <dgm:cxn modelId="{340811CC-4E26-4470-854F-C3F46993526C}" type="presParOf" srcId="{A54602EE-3E37-451E-BB3C-E8FEEC7A78D5}" destId="{6DDC1723-8132-44B4-B081-588036A6EF5F}" srcOrd="1" destOrd="0" presId="urn:microsoft.com/office/officeart/2005/8/layout/chevron1"/>
    <dgm:cxn modelId="{4675885C-7433-437E-BBC1-794C4DFECE16}" type="presParOf" srcId="{CE9CED1F-6BA1-42E4-AFAD-838BB3BAB4CB}" destId="{BD8D5E1B-2231-4616-A3A5-2A37B0E9D82E}" srcOrd="1" destOrd="0" presId="urn:microsoft.com/office/officeart/2005/8/layout/chevron1"/>
    <dgm:cxn modelId="{6A3A7059-C539-4E82-8484-6A5C041730E8}" type="presParOf" srcId="{CE9CED1F-6BA1-42E4-AFAD-838BB3BAB4CB}" destId="{D8DCB623-7B67-47B4-AD65-2BD51A028642}" srcOrd="2" destOrd="0" presId="urn:microsoft.com/office/officeart/2005/8/layout/chevron1"/>
    <dgm:cxn modelId="{C4CC4896-7FFF-4526-B26F-A634DAAD3DC3}" type="presParOf" srcId="{D8DCB623-7B67-47B4-AD65-2BD51A028642}" destId="{63524F7D-4D89-4643-8B06-4EE1380B3FEC}" srcOrd="0" destOrd="0" presId="urn:microsoft.com/office/officeart/2005/8/layout/chevron1"/>
    <dgm:cxn modelId="{3D37AD9D-03C2-4626-B12D-C1DB3F832D10}" type="presParOf" srcId="{D8DCB623-7B67-47B4-AD65-2BD51A028642}" destId="{05EC0EA0-1534-41B0-868A-700D4ACC5219}" srcOrd="1" destOrd="0" presId="urn:microsoft.com/office/officeart/2005/8/layout/chevron1"/>
    <dgm:cxn modelId="{2C0E4DFE-7417-4535-9E29-A3BCA2434BBF}" type="presParOf" srcId="{CE9CED1F-6BA1-42E4-AFAD-838BB3BAB4CB}" destId="{944AF9E7-538C-4E84-9299-2FBFD63ADE84}" srcOrd="3" destOrd="0" presId="urn:microsoft.com/office/officeart/2005/8/layout/chevron1"/>
    <dgm:cxn modelId="{CA8C08FA-B7EB-41F2-A127-51131DADF2F2}" type="presParOf" srcId="{CE9CED1F-6BA1-42E4-AFAD-838BB3BAB4CB}" destId="{B87F57A8-1C96-49E3-982E-9EA48D2F0943}" srcOrd="4" destOrd="0" presId="urn:microsoft.com/office/officeart/2005/8/layout/chevron1"/>
    <dgm:cxn modelId="{87EA2BD7-ED86-4687-A3E0-399101C86EC2}" type="presParOf" srcId="{B87F57A8-1C96-49E3-982E-9EA48D2F0943}" destId="{599FDE49-D426-420C-A5B1-9208A85389D9}" srcOrd="0" destOrd="0" presId="urn:microsoft.com/office/officeart/2005/8/layout/chevron1"/>
    <dgm:cxn modelId="{BBF4CA6D-491B-456C-9789-AAA75F5820DD}" type="presParOf" srcId="{B87F57A8-1C96-49E3-982E-9EA48D2F0943}" destId="{A34116A5-A0AC-43DC-AC44-557E37E24891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CF843-7C90-4DB4-918B-83061CC198CE}">
      <dsp:nvSpPr>
        <dsp:cNvPr id="0" name=""/>
        <dsp:cNvSpPr/>
      </dsp:nvSpPr>
      <dsp:spPr>
        <a:xfrm>
          <a:off x="0" y="5916"/>
          <a:ext cx="3612828" cy="1026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 A: Anomaly Detection for Credit Card Frauds</a:t>
          </a:r>
        </a:p>
      </dsp:txBody>
      <dsp:txXfrm>
        <a:off x="513000" y="5916"/>
        <a:ext cx="2586828" cy="1026000"/>
      </dsp:txXfrm>
    </dsp:sp>
    <dsp:sp modelId="{6DDC1723-8132-44B4-B081-588036A6EF5F}">
      <dsp:nvSpPr>
        <dsp:cNvPr id="0" name=""/>
        <dsp:cNvSpPr/>
      </dsp:nvSpPr>
      <dsp:spPr>
        <a:xfrm>
          <a:off x="2751" y="1160166"/>
          <a:ext cx="3219636" cy="4042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fraud and normal data to detect frauds</a:t>
          </a:r>
          <a:b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Manually label fraud data into three risk categories</a:t>
          </a:r>
          <a:br>
            <a:rPr lang="en-US" sz="19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Problems: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Contamination Rate &lt; 0.58%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Dataset Size &gt; 1M sample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domain knowledge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Any wrongdoing will reset the whole process.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751" y="1160166"/>
        <a:ext cx="3219636" cy="4042608"/>
      </dsp:txXfrm>
    </dsp:sp>
    <dsp:sp modelId="{63524F7D-4D89-4643-8B06-4EE1380B3FEC}">
      <dsp:nvSpPr>
        <dsp:cNvPr id="0" name=""/>
        <dsp:cNvSpPr/>
      </dsp:nvSpPr>
      <dsp:spPr>
        <a:xfrm>
          <a:off x="3474372" y="5916"/>
          <a:ext cx="3612828" cy="1026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 B: Novelty Detection for Credit Card Frauds</a:t>
          </a:r>
        </a:p>
      </dsp:txBody>
      <dsp:txXfrm>
        <a:off x="3987372" y="5916"/>
        <a:ext cx="2586828" cy="1026000"/>
      </dsp:txXfrm>
    </dsp:sp>
    <dsp:sp modelId="{05EC0EA0-1534-41B0-868A-700D4ACC5219}">
      <dsp:nvSpPr>
        <dsp:cNvPr id="0" name=""/>
        <dsp:cNvSpPr/>
      </dsp:nvSpPr>
      <dsp:spPr>
        <a:xfrm>
          <a:off x="3564267" y="1160166"/>
          <a:ext cx="3275447" cy="4042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only normal data to construct boundaries to then filter out frauds.</a:t>
          </a:r>
          <a:b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New idea, instead of manually labelling, can we automate this process?</a:t>
          </a:r>
          <a:b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Problems: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Very poor results on Novelty Detection approach.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Can’t move forward with labeling due to poor results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564267" y="1160166"/>
        <a:ext cx="3275447" cy="4042608"/>
      </dsp:txXfrm>
    </dsp:sp>
    <dsp:sp modelId="{599FDE49-D426-420C-A5B1-9208A85389D9}">
      <dsp:nvSpPr>
        <dsp:cNvPr id="0" name=""/>
        <dsp:cNvSpPr/>
      </dsp:nvSpPr>
      <dsp:spPr>
        <a:xfrm>
          <a:off x="7143239" y="5916"/>
          <a:ext cx="3612828" cy="10260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 C: Analyzing Fraudulent Credit Card Transaction</a:t>
          </a:r>
        </a:p>
      </dsp:txBody>
      <dsp:txXfrm>
        <a:off x="7656239" y="5916"/>
        <a:ext cx="2586828" cy="1026000"/>
      </dsp:txXfrm>
    </dsp:sp>
    <dsp:sp modelId="{A34116A5-A0AC-43DC-AC44-557E37E24891}">
      <dsp:nvSpPr>
        <dsp:cNvPr id="0" name=""/>
        <dsp:cNvSpPr/>
      </dsp:nvSpPr>
      <dsp:spPr>
        <a:xfrm>
          <a:off x="7385978" y="1160166"/>
          <a:ext cx="3671702" cy="4042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</a:t>
          </a:r>
          <a:r>
            <a:rPr lang="en-US" sz="190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 classifier to detect frauds.</a:t>
          </a: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Automate plan A? through clustering!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Separate frauds into three risk categories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Heavily focused on how to understand model’s behavior</a:t>
          </a:r>
        </a:p>
      </dsp:txBody>
      <dsp:txXfrm>
        <a:off x="7385978" y="1160166"/>
        <a:ext cx="3671702" cy="4042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9992C-0100-4925-B4F4-61578BC34D82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CA28A-1E86-4BBB-B2BE-95A9BB21F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9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AB5C-DE8A-7805-EF43-224E037D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75DCA-AC3B-7C0D-88DA-7415E0B29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A4BB7-79DA-113D-CB52-E5B435919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E220F-8A23-CC4B-04D3-F7F4435A7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1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50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7A8C-BEC9-B291-E5D8-C2C183919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ED6D5-C1B6-8645-1D5A-DC0A0A54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8B30F-A789-3FBA-18C9-BDD1D00AD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A3463-3737-FE57-6CAD-CBE1BBEBE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776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74573-0B75-1394-E097-D824E87C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BB87B-B0C4-4753-7546-CA113B487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4A801-C6CE-94BD-DFBD-57601CD6D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E2FE8-E141-9DDE-CB6A-43CECC898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9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8686-E69B-2328-611F-3D2C60FB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9E76E-5525-F42B-22C7-230558A60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A565C-86E1-4007-DC92-209CCCB61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F93F8-199C-3D53-CBC9-53E40FA1D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09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1005-97A1-7CD4-F3A2-CDE6E69C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91E99-8255-6770-155F-7D53D7974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C6ECE-44CD-8CA3-4C6B-8C94A1D00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AC5D6-F79D-A660-8725-595C0DF51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00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7797C-EBB2-68D7-3665-32AC7F88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856F7-9F27-B4BD-2795-8A45AA9E1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A535A-A240-7835-7ABA-1E7E7A8FA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8AE3F-963B-5AC2-7B71-DBBB53423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18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AD12-FAEC-63D7-2A9F-748BC2FE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52721-CBE9-6F75-3275-0C2FA59DA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DA6C9-6D22-34CB-CAE9-A96F98DEE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CEB81-1980-D58E-BE7D-0B0D6EC4E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67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1305-2935-CCFC-CE81-50A14AF7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C4916-1470-FF86-F687-A279E517A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0C455-290D-01D1-EDC6-668411A87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C02FB-1DE1-C3D4-DFD4-39D6804BD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37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F729C-5396-7E53-998A-97C100EA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F2F98-27DC-EEE4-FA6A-03D6831E5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E411D-0E25-5840-D4E1-5004C16CB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C20B-C5A5-A0E8-68FB-E99845F0B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15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48A9-9B83-A10B-1A4C-BC9AF7133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8878A-8D55-7229-A0BC-146069178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A89AB-74A8-E8AB-214A-607CFFF3B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FC128-FC82-143F-924B-DE904F4F8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93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7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8E36C-32BE-5305-4A69-B4CE1D178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CA717-C376-0802-E7E0-1F011AB4D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961EAF-EDF7-3730-D248-62D1272EF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63316-49CB-CDB2-9DB8-178D59A40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11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135A-E8E9-8CA6-9CE4-8DC88E26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2915B-398F-0983-299F-056462204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0C149-520F-756B-AD10-04568995C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FC5DA-AB9D-539C-842F-847B30C57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738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222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E63D0-F0F1-2723-116F-7AFC9F28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A72CD-61E7-97B0-DEB7-5C8A23A6A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5D4B1-A793-FBCB-B37B-EBDB74301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7E9D1-9E7D-3919-7DC0-A31CB529A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20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99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0" dirty="0"/>
              <a:t>“Do we want to capture all frauds?”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Yes </a:t>
            </a:r>
            <a:r>
              <a:rPr lang="en-US" b="0" dirty="0">
                <a:sym typeface="Wingdings" panose="05000000000000000000" pitchFamily="2" charset="2"/>
              </a:rPr>
              <a:t></a:t>
            </a:r>
            <a:r>
              <a:rPr lang="en-US" b="0" dirty="0"/>
              <a:t> Prioritize 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You're saying: "Missing any fraud is expensive so catch as many as possible, even if some are false alarms."</a:t>
            </a:r>
          </a:p>
          <a:p>
            <a:pPr>
              <a:buNone/>
            </a:pPr>
            <a:endParaRPr lang="en-US" b="0" dirty="0"/>
          </a:p>
          <a:p>
            <a:pPr>
              <a:buNone/>
            </a:pPr>
            <a:r>
              <a:rPr lang="en-US" b="0" dirty="0"/>
              <a:t>“Do we want to reduce manual investigation to reduce time and cost?”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Yes </a:t>
            </a:r>
            <a:r>
              <a:rPr lang="en-US" b="0" dirty="0">
                <a:sym typeface="Wingdings" panose="05000000000000000000" pitchFamily="2" charset="2"/>
              </a:rPr>
              <a:t></a:t>
            </a:r>
            <a:r>
              <a:rPr lang="en-US" b="0" dirty="0"/>
              <a:t> Prioritize 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 You're saying: "We can’t afford to chase too many false alarms so let's only look at cases that are </a:t>
            </a:r>
            <a:r>
              <a:rPr lang="en-US" b="0" i="1" dirty="0"/>
              <a:t>very likely</a:t>
            </a:r>
            <a:r>
              <a:rPr lang="en-US" b="0" dirty="0"/>
              <a:t> to be fraud."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12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AB60-4F2F-2D47-332F-B346DB67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58555-039B-EDDB-6307-106D8F0B1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355FA-2B07-76E0-7710-020B44FEE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3F98B-C874-909A-0B93-CA0E3EE14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199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37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E9643-8534-9AB5-F1AB-45383CEF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FF029-8317-E5D6-FBE4-DB55B263A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98EBF-2964-EF29-459D-9A73549A9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7D8E1-E8D5-2814-D84B-9B6CDF362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03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0627-4602-CC6E-077A-ABF31E97A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33284-D3FA-5A37-6C55-9D8769F0B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57E6D-BEA8-C202-71C7-3AA1F269C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480AD-D19E-D100-D05B-4D124BE02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37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CA28A-1E86-4BBB-B2BE-95A9BB21FEE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6718-7895-1BBF-A2BF-EBADBB590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91A3D-9E5A-0F3D-60FC-E29C12837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E806F-4A90-8857-F010-3F9D4095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010E0-39C7-362F-BE6C-D030762C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27DC1-78C3-6915-5C46-7E7A0AB8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5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FDFA-ECD4-2FB5-84CA-493B1BD7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225D8-1C2E-D690-AADE-405D734E1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A98F-7C1C-C27F-F7D0-F34DA795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99E7-4FD6-AACA-8A2D-52B41D54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8FD8B-F5CC-342A-141D-BCF7F1735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2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3D1C-3709-A17F-6A2C-BA04F070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9C7F9-8B9F-F17C-B5F6-72E4E3F2C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DAB50-5305-9EEF-53B4-2DB748C85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5BCDA-7A53-FFE0-FC94-B7AE871B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07E9E-6789-D64A-F4B7-E8A9F645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8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C253-33EB-081B-30A5-2137946D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1605A-8757-1A01-87E1-543EB5FDB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2BB11-3110-1A38-6ED2-BE796FD46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98FF9-914C-94DF-7BF8-C799889ED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7AA54-B424-D723-E04D-C6C857C7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EE9E-1FC1-5E6C-27D4-E5773366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7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A542F-0E06-6355-5F2E-8C2152D8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437BB-E31F-DB67-5225-F0D9B61B2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F0568-9276-221C-2744-9FCA611D5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4A046-81B6-17D5-F6D8-F6EB91919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CF3A8-34DD-9D62-3E82-CD84DB126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5105C-2B2D-E264-1468-E83B3FDA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33DD03-5882-7B6E-0145-A4505F9B9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06433-F65C-ACF9-9A34-1F0AC685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30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4B7B-B51C-AA1D-4865-6F95337C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F553B-F5BD-FF42-DF42-4DC63FEA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4A0315-B7F5-A69F-A74F-013CDA7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DB001C-AA44-9DCF-B4BF-760544A0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1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6AD2B-B958-0F41-BE3D-F4706BCB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B59AB-6B18-07B5-C458-160257A0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96538-9536-A635-E5D3-572B34F3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2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AC22-7F7D-9922-A039-D4A6BE41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FA7C2-D850-5748-2AB2-C07770F0F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56980-F42A-387E-6A5C-87DB8A562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0901-236D-CE93-0E51-3E28C840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4B766-EBB7-2B7E-436D-26EDCB9B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BF284-6E0E-4730-0E88-39F9C79E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51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DCE3-BFD3-9328-EF89-167E0BEC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E964F-F67B-09C2-189C-D16F59A37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4D281-E178-F6EE-7484-D891AEC0A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C5A6-375B-268D-E680-472381C5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48EEF-AB26-C99F-4304-CCA1D022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7CCA6-5499-9655-4B01-BC2B3243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8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BE2EB-4357-8B33-EEC4-332496A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51D4C-EDAD-307A-8ED2-8E3CE51AE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071BC-71C2-FFEE-66A7-150C6228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8A58-5A3C-BB3B-5466-04D132A2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D0661-004A-1FC3-01EF-6DCD3707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9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678DAE-A32C-3650-88F5-2B1A6634BA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04CDA-2078-CF0A-0A02-C6A06787A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6EA56-6859-A46E-3C95-4DD52926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A411-3967-42EC-A39F-1FCAB4BF087C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0B60E-0A1E-66C5-BF2C-08F5ECC8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A6722-2016-7746-61A2-B068BA41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2762A-310D-4719-8C5A-61E6352B44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54A8AA-CC06-9680-D69C-7A9D240B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07A53-A64F-D77B-0CEB-43658DBA4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38167-A66E-1F5F-3664-3E1CEA0A4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E10A411-3967-42EC-A39F-1FCAB4BF087C}" type="datetimeFigureOut">
              <a:rPr lang="en-US" smtClean="0"/>
              <a:pPr/>
              <a:t>5/5/2025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41FC6-CA7A-B6E6-DEB1-9197E5F29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BF048-14F5-F2A4-E3AB-3EA7C7BBE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5582762A-310D-4719-8C5A-61E6352B44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3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36800562_Credit_Card_Fraud_Detection_using_Machine_Learning_and_Data_Science" TargetMode="External"/><Relationship Id="rId3" Type="http://schemas.openxmlformats.org/officeDocument/2006/relationships/hyperlink" Target="https://arxiv.org/pdf/1904.10604" TargetMode="External"/><Relationship Id="rId7" Type="http://schemas.openxmlformats.org/officeDocument/2006/relationships/hyperlink" Target="https://jtec.utem.edu.my/jtec/article/view/3571/2466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ipublication.com/ijaer18/ijaerv13n24_18.pdf" TargetMode="External"/><Relationship Id="rId5" Type="http://schemas.openxmlformats.org/officeDocument/2006/relationships/hyperlink" Target="https://www.researchgate.net/publication/354065310_Credit_Card_Fraud_Detection_Using_Unsupervised_Machine_Learning_Algorithms?enrichId=rgreq-69b5660805bbf16ce517ea1c48ac1308-XXX&amp;enrichSource=Y292ZXJQYWdlOzM1NDA2NTMxMDtBUzoxMDU5ODA4OTEyMzQ3MTM2QDE2Mjk2ODk1NDMzNTM%3D&amp;el=1_x_2&amp;_esc=publicationCoverPdf" TargetMode="External"/><Relationship Id="rId4" Type="http://schemas.openxmlformats.org/officeDocument/2006/relationships/hyperlink" Target="https://www.kaggle.com/datasets/mlg-ulb/creditcardfrau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madhumithakr/creditcardfraudcode#4.-XGBoos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kartik2112/fraud-detec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6391B-D72D-C020-08A0-D3AFBFC5B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Fraudulent Credit Card Transaction</a:t>
            </a:r>
            <a:endParaRPr lang="en-US" sz="34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B6572-9D22-BD20-BE7D-7942EB2BD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2704014"/>
            <a:ext cx="9941319" cy="34381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CCAI 323 – Machine Learning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Presentation</a:t>
            </a:r>
          </a:p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Eyad Alghamdi (2240059)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Raed Alghamdi (2240009)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Nawaf Alshehri (2240403)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06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18403-2898-F06D-C7AC-736A1A82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C5AF1BC-2C5F-28BB-7BE5-39D7601D0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732F0E-0DFC-FDF6-3C3A-FCDB8299A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98D836-9A32-C154-FD67-B32E398C3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7B38E5-AB48-188B-F768-C9B3D2CB9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3776AB-09EB-06E8-704A-8DE11E706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D0925B-B0F7-6F09-41FC-8F0881B7B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8F19925-E763-1AAC-A614-EEABAF6E5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F94B79-B2E1-A2BA-2380-3FAC37307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6939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CB4507-06E6-9DF6-7D28-81C732BA0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A9540DD9-088F-DE25-3E0E-D1369C67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A16EC3D7-F748-0B38-633E-B908228AC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5CC7D4B6-7E0C-69E0-93D4-3585AB03E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6753155E-1519-0CF8-F710-1EF837B9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6F2B2-AC98-12BE-1438-ED53451D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Idea</a:t>
            </a:r>
          </a:p>
        </p:txBody>
      </p:sp>
      <p:sp>
        <p:nvSpPr>
          <p:cNvPr id="6" name="Google Shape;1887;p43">
            <a:extLst>
              <a:ext uri="{FF2B5EF4-FFF2-40B4-BE49-F238E27FC236}">
                <a16:creationId xmlns:a16="http://schemas.microsoft.com/office/drawing/2014/main" id="{E021E74A-D40D-92E1-0AD1-9DE3CAAD1237}"/>
              </a:ext>
            </a:extLst>
          </p:cNvPr>
          <p:cNvSpPr txBox="1">
            <a:spLocks/>
          </p:cNvSpPr>
          <p:nvPr/>
        </p:nvSpPr>
        <p:spPr>
          <a:xfrm>
            <a:off x="371116" y="1738902"/>
            <a:ext cx="11634956" cy="38855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</a:pPr>
            <a:r>
              <a:rPr lang="en-US" sz="2400" dirty="0"/>
              <a:t>Our project focuses on </a:t>
            </a:r>
            <a:r>
              <a:rPr lang="en-US" sz="2400" b="1" dirty="0"/>
              <a:t>finance sector</a:t>
            </a:r>
            <a:r>
              <a:rPr lang="en-US" sz="2400" dirty="0"/>
              <a:t>, where highly vulnerable to fraudulent activities.</a:t>
            </a:r>
          </a:p>
          <a:p>
            <a:pPr marL="285750" indent="-285750">
              <a:spcBef>
                <a:spcPts val="0"/>
              </a:spcBef>
            </a:pPr>
            <a:endParaRPr lang="en-US" sz="2400" dirty="0"/>
          </a:p>
          <a:p>
            <a:pPr marL="285750" indent="-285750">
              <a:spcBef>
                <a:spcPts val="0"/>
              </a:spcBef>
            </a:pPr>
            <a:r>
              <a:rPr lang="en-US" sz="2400" dirty="0"/>
              <a:t>Financial fraud is a growing issue, with global fraud losses reaching </a:t>
            </a:r>
            <a:r>
              <a:rPr lang="en-US" sz="2400" b="1" dirty="0"/>
              <a:t>$486 billion in 2023</a:t>
            </a:r>
            <a:r>
              <a:rPr lang="en-US" sz="2400" dirty="0"/>
              <a:t>.</a:t>
            </a:r>
          </a:p>
          <a:p>
            <a:pPr marL="285750" indent="-285750">
              <a:spcBef>
                <a:spcPts val="0"/>
              </a:spcBef>
            </a:pPr>
            <a:endParaRPr lang="en-US" sz="2400" dirty="0"/>
          </a:p>
          <a:p>
            <a:pPr marL="285750" indent="-285750">
              <a:spcBef>
                <a:spcPts val="0"/>
              </a:spcBef>
            </a:pPr>
            <a:r>
              <a:rPr lang="en-US" sz="2400" dirty="0"/>
              <a:t>According to a </a:t>
            </a:r>
            <a:r>
              <a:rPr lang="en-US" sz="2400" b="1" dirty="0"/>
              <a:t>PwC report (2022)</a:t>
            </a:r>
            <a:r>
              <a:rPr lang="en-US" sz="2400" dirty="0"/>
              <a:t>, </a:t>
            </a:r>
            <a:r>
              <a:rPr lang="en-US" sz="2400" b="1" dirty="0"/>
              <a:t>51% of companies</a:t>
            </a:r>
            <a:r>
              <a:rPr lang="en-US" sz="2400" dirty="0"/>
              <a:t> experienced fraud in the past two years.</a:t>
            </a:r>
          </a:p>
          <a:p>
            <a:pPr marL="285750" indent="-285750">
              <a:spcBef>
                <a:spcPts val="0"/>
              </a:spcBef>
            </a:pPr>
            <a:endParaRPr lang="en-US" sz="2400" dirty="0"/>
          </a:p>
          <a:p>
            <a:pPr marL="285750" indent="-285750">
              <a:spcBef>
                <a:spcPts val="0"/>
              </a:spcBef>
            </a:pPr>
            <a:r>
              <a:rPr lang="en-US" sz="2400" b="1" dirty="0"/>
              <a:t>Our Idea</a:t>
            </a:r>
            <a:r>
              <a:rPr lang="en-US" sz="2400" dirty="0"/>
              <a:t>: Create a system that detects whether a transaction was fraud or not, if the transaction was fraudulent estimate how risky it was.</a:t>
            </a:r>
            <a:endParaRPr lang="en-US" sz="2400" b="1" dirty="0"/>
          </a:p>
          <a:p>
            <a:pPr marL="285750" indent="-285750">
              <a:spcBef>
                <a:spcPts val="0"/>
              </a:spcBef>
            </a:pPr>
            <a:endParaRPr lang="en-US" sz="2400" dirty="0"/>
          </a:p>
          <a:p>
            <a:pPr marL="285750" indent="-285750">
              <a:spcBef>
                <a:spcPts val="0"/>
              </a:spcBef>
            </a:pPr>
            <a:r>
              <a:rPr lang="en-US" sz="2400" b="1" dirty="0"/>
              <a:t>Benefits: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b="1" dirty="0"/>
          </a:p>
          <a:p>
            <a:pPr marL="742950" lvl="1" indent="-285750">
              <a:spcBef>
                <a:spcPts val="0"/>
              </a:spcBef>
            </a:pPr>
            <a:r>
              <a:rPr lang="en-US" dirty="0"/>
              <a:t>Enhance the security of digital transactions.</a:t>
            </a:r>
          </a:p>
          <a:p>
            <a:pPr marL="742950" lvl="1" indent="-285750">
              <a:spcBef>
                <a:spcPts val="0"/>
              </a:spcBef>
            </a:pPr>
            <a:endParaRPr lang="en-US" sz="1400" dirty="0"/>
          </a:p>
          <a:p>
            <a:pPr marL="742950" lvl="1" indent="-285750">
              <a:spcBef>
                <a:spcPts val="0"/>
              </a:spcBef>
            </a:pPr>
            <a:r>
              <a:rPr lang="en-US" dirty="0"/>
              <a:t>Help reduce financial losses for both institutions and consumers.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721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34290-30E5-0E61-A6AF-6A019E20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05D7ECA8-352F-6122-0377-D62202C25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E91EDD1A-710F-1FBE-39A4-F018C9C57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BB9967E0-114A-FA1A-D57A-42B15262E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6D2AD7F7-CAFC-36A2-ECFF-462B07F28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CB5C7-4734-7EBC-A88D-EA15B91E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Things don’t always go according to plan!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464B16C-C59F-440E-DACC-118E5E1F4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887655"/>
              </p:ext>
            </p:extLst>
          </p:nvPr>
        </p:nvGraphicFramePr>
        <p:xfrm>
          <a:off x="516004" y="1686231"/>
          <a:ext cx="11159988" cy="5208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63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4D87D-E1C2-F7F9-81FC-D3DDEF28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D0980BA-C6DF-6C82-9D0A-462F2968C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311813-6209-D5BC-9B02-AADF2306F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F33A81-5A3A-302E-11B3-1607519F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5AF3F3-686B-1149-1B5A-991673E4F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B913F7-C41F-871D-D1C0-4A751F03B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E9C7AC-DAF4-62F4-BD9E-B18C45731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BDB79D0-B25B-DE69-21DE-A45FCD3DC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49264-3C33-FE38-F55D-BE54673A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82843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266AE-2674-6F0C-DB30-3CC916B0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25A4F1BF-EF5E-0396-A934-208F71A98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EE017644-DE9C-4DBF-D6AB-B19F2CB8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5CAC1678-DF66-48CE-EE0C-7CF93C174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580778C-9E02-BA70-3DDA-A28939C09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30021-F0D3-7B6A-A987-A233C954C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24144E-741A-7089-4B3D-58F31E94E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98864"/>
              </p:ext>
            </p:extLst>
          </p:nvPr>
        </p:nvGraphicFramePr>
        <p:xfrm>
          <a:off x="-4" y="1537898"/>
          <a:ext cx="12191997" cy="53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2734">
                  <a:extLst>
                    <a:ext uri="{9D8B030D-6E8A-4147-A177-3AD203B41FA5}">
                      <a16:colId xmlns:a16="http://schemas.microsoft.com/office/drawing/2014/main" val="2553359829"/>
                    </a:ext>
                  </a:extLst>
                </a:gridCol>
                <a:gridCol w="2789467">
                  <a:extLst>
                    <a:ext uri="{9D8B030D-6E8A-4147-A177-3AD203B41FA5}">
                      <a16:colId xmlns:a16="http://schemas.microsoft.com/office/drawing/2014/main" val="3249393757"/>
                    </a:ext>
                  </a:extLst>
                </a:gridCol>
                <a:gridCol w="1781256">
                  <a:extLst>
                    <a:ext uri="{9D8B030D-6E8A-4147-A177-3AD203B41FA5}">
                      <a16:colId xmlns:a16="http://schemas.microsoft.com/office/drawing/2014/main" val="714323911"/>
                    </a:ext>
                  </a:extLst>
                </a:gridCol>
                <a:gridCol w="1967527">
                  <a:extLst>
                    <a:ext uri="{9D8B030D-6E8A-4147-A177-3AD203B41FA5}">
                      <a16:colId xmlns:a16="http://schemas.microsoft.com/office/drawing/2014/main" val="1596385749"/>
                    </a:ext>
                  </a:extLst>
                </a:gridCol>
                <a:gridCol w="3481013">
                  <a:extLst>
                    <a:ext uri="{9D8B030D-6E8A-4147-A177-3AD203B41FA5}">
                      <a16:colId xmlns:a16="http://schemas.microsoft.com/office/drawing/2014/main" val="1439755301"/>
                    </a:ext>
                  </a:extLst>
                </a:gridCol>
              </a:tblGrid>
              <a:tr h="56309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Study</a:t>
                      </a:r>
                      <a:endParaRPr lang="en-US" sz="2800" kern="1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Click to view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Models Used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Dataset</a:t>
                      </a:r>
                      <a:endParaRPr lang="en-US" sz="2800" kern="100">
                        <a:effectLst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Click to view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Approach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Accuracy Performance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3701416"/>
                  </a:ext>
                </a:extLst>
              </a:tr>
              <a:tr h="12547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 dirty="0">
                          <a:solidFill>
                            <a:schemeClr val="bg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Niu et al. (2019)​</a:t>
                      </a:r>
                      <a:endParaRPr lang="en-US" sz="2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Supervised: </a:t>
                      </a:r>
                      <a:r>
                        <a:rPr lang="en-US" sz="1800" kern="100" dirty="0" err="1">
                          <a:effectLst/>
                        </a:rPr>
                        <a:t>XGBoost</a:t>
                      </a:r>
                      <a:r>
                        <a:rPr lang="en-US" sz="1800" kern="100" dirty="0">
                          <a:effectLst/>
                        </a:rPr>
                        <a:t>, RF, SVM, LR, KNN, DT</a:t>
                      </a:r>
                      <a:endParaRPr lang="en-US" sz="28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Unsupervised: GAN, RBM, AE, OCSVM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>
                          <a:effectLst/>
                          <a:hlinkClick r:id="rId4"/>
                        </a:rPr>
                        <a:t>European Credit Card Transactions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Supervised vs. Unsupervised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Supervised: XGB (98.9%), RF (98.8%) </a:t>
                      </a:r>
                      <a:endParaRPr lang="en-US" sz="2800" kern="1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Unsupervised: RBM (96.1%), GAN (95.4%)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7193014"/>
                  </a:ext>
                </a:extLst>
              </a:tr>
              <a:tr h="8623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 dirty="0" err="1">
                          <a:solidFill>
                            <a:schemeClr val="bg1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Bodepudi</a:t>
                      </a:r>
                      <a:r>
                        <a:rPr lang="en-US" sz="1800" u="sng" kern="100" dirty="0">
                          <a:solidFill>
                            <a:schemeClr val="bg1"/>
                          </a:solidFill>
                          <a:effectLst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(2021)​</a:t>
                      </a:r>
                      <a:endParaRPr lang="en-US" sz="2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Unsupervised: Isolation Forest, LOF, One-Class SVM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>
                          <a:effectLst/>
                          <a:hlinkClick r:id="rId4"/>
                        </a:rPr>
                        <a:t>European Credit Card Transactions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Unsupervised Anomaly Detection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Isolation Forest (99.74%), LOF (99.65%), OC-SVM (70.09%)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0806195"/>
                  </a:ext>
                </a:extLst>
              </a:tr>
              <a:tr h="8623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>
                          <a:solidFill>
                            <a:schemeClr val="bg1"/>
                          </a:solidFill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Lakshmi et al. (2018)​</a:t>
                      </a:r>
                      <a:endParaRPr lang="en-US" sz="28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Supervised: Logistic Regression, Decision Tree, Random Forest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>
                          <a:effectLst/>
                          <a:hlinkClick r:id="rId4"/>
                        </a:rPr>
                        <a:t>European Credit Card Transactions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Supervised Learning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Random Forest (95.5%), Decision Tree (94.3%), Logistic Regression (90.0%)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6760283"/>
                  </a:ext>
                </a:extLst>
              </a:tr>
              <a:tr h="8623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>
                          <a:solidFill>
                            <a:schemeClr val="bg1"/>
                          </a:solidFill>
                          <a:effectLst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Ong et al.</a:t>
                      </a:r>
                      <a:endParaRPr lang="en-US" sz="2800" kern="10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28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Supervised: K2, TAN, Naive Bayes, Logistics, J48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Dummy Dataset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Supervised Learning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Preprocessed: TAN (99.7%), J48 (100%), Logistics (100%); Raw: TAN (84.0%), J48 (80.0%)</a:t>
                      </a:r>
                      <a:endParaRPr lang="en-US" sz="2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178207"/>
                  </a:ext>
                </a:extLst>
              </a:tr>
              <a:tr h="8623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 dirty="0">
                          <a:solidFill>
                            <a:schemeClr val="bg1"/>
                          </a:solidFill>
                          <a:effectLst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Maniraj et al</a:t>
                      </a:r>
                      <a:endParaRPr lang="en-US" sz="2800" kern="1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 dirty="0">
                          <a:solidFill>
                            <a:schemeClr val="bg1"/>
                          </a:solidFill>
                          <a:effectLst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(2019)</a:t>
                      </a:r>
                      <a:endParaRPr lang="en-US" sz="2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Unsupervised: Isolation Forest, Local Outlier Factor (LOF)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u="sng" kern="100" dirty="0">
                          <a:effectLst/>
                          <a:hlinkClick r:id="rId4"/>
                        </a:rPr>
                        <a:t>European Credit Card Transactions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Unsupervised Anomaly Detection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Isolation Forest (99.74%), LOF (99.65%); Precision: Isolation Forest (28-33%), LOF (2-5%)</a:t>
                      </a:r>
                      <a:endParaRPr lang="en-US" sz="2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1162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215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37497-C581-89E2-F05A-DBFF0C15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1BDBB886-488E-DD4D-EDD7-A3CF324E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37878582-B4E7-8CB1-CDA5-D006B4E80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12E61CD1-18DE-0AF0-3D47-CC2B57C99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53096505-56E3-BC84-149A-FC94BC1C6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6EB9F-EFA3-2615-D69F-0B0DC51C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Gap</a:t>
            </a:r>
          </a:p>
        </p:txBody>
      </p:sp>
      <p:sp>
        <p:nvSpPr>
          <p:cNvPr id="6" name="Google Shape;1887;p43">
            <a:extLst>
              <a:ext uri="{FF2B5EF4-FFF2-40B4-BE49-F238E27FC236}">
                <a16:creationId xmlns:a16="http://schemas.microsoft.com/office/drawing/2014/main" id="{0C7EA135-7367-EECD-C108-848EF5602DA2}"/>
              </a:ext>
            </a:extLst>
          </p:cNvPr>
          <p:cNvSpPr txBox="1">
            <a:spLocks/>
          </p:cNvSpPr>
          <p:nvPr/>
        </p:nvSpPr>
        <p:spPr>
          <a:xfrm>
            <a:off x="371116" y="1738902"/>
            <a:ext cx="11634956" cy="38855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5" name="Google Shape;1887;p43">
            <a:extLst>
              <a:ext uri="{FF2B5EF4-FFF2-40B4-BE49-F238E27FC236}">
                <a16:creationId xmlns:a16="http://schemas.microsoft.com/office/drawing/2014/main" id="{B7CB1A47-A713-6181-4B92-A3DE682A9935}"/>
              </a:ext>
            </a:extLst>
          </p:cNvPr>
          <p:cNvSpPr txBox="1">
            <a:spLocks/>
          </p:cNvSpPr>
          <p:nvPr/>
        </p:nvSpPr>
        <p:spPr>
          <a:xfrm>
            <a:off x="371116" y="1822348"/>
            <a:ext cx="11634956" cy="423517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400" b="1" dirty="0"/>
              <a:t>Literature Gap: </a:t>
            </a:r>
            <a:r>
              <a:rPr lang="en-US" sz="2400" dirty="0"/>
              <a:t>Current literature lacks a risk category label for fraudulent transactions.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2400" b="1" dirty="0"/>
              <a:t>Proposed Solution:</a:t>
            </a:r>
            <a:r>
              <a:rPr lang="en-US" sz="2400" dirty="0"/>
              <a:t> Introduce a new risk category label through unsupervised learning techniques.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2400" b="1" dirty="0"/>
              <a:t>Purpose of the Risk Category: </a:t>
            </a:r>
            <a:r>
              <a:rPr lang="en-US" sz="2400" dirty="0"/>
              <a:t>The label indicates the level of threat posed by fraudulent transactions to the user and the business.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2400" b="1" dirty="0"/>
              <a:t>Risk Levels:</a:t>
            </a:r>
            <a:r>
              <a:rPr lang="en-US" sz="2400" dirty="0"/>
              <a:t> The risk category is divided into three levels: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Low-risk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Medium-risk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High-risk</a:t>
            </a:r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400" b="1" dirty="0"/>
              <a:t>Future Use: </a:t>
            </a:r>
            <a:r>
              <a:rPr lang="en-US" sz="2400" dirty="0"/>
              <a:t>The risk category label can be used in predictive models for better decision-making in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2610495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12F17-DC7B-0228-B78A-F7211DBD1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FB5B292-97A0-1599-1F7F-F85746BC7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ACA0DF-C714-A2EA-817F-6B66F6337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283FBF-ACC2-8853-8362-9D1E2C0F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5587DB-35C8-B39B-A883-2ECF70FA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2C30E-1780-EAFB-D71C-A9859039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E51A5-8B00-F9F8-DFB0-E143C92B4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190602-8418-4AA1-95CD-C8CABF72F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83CBE-ECCB-8D81-4A68-233A701F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State of the Art (SOA)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763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6C6A9-C335-A808-78A7-31A08FEF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885E98F3-9AFF-4D8E-8111-93A5CCE59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1AFD36E3-BAF4-7AC2-9873-76E472825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00247C4F-F5E8-4710-E286-46FDA94AC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50FE6056-44BA-9498-BF6D-45002437C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37153-6A04-27A3-072F-E34EB44E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State of the Art (SOA)</a:t>
            </a:r>
          </a:p>
        </p:txBody>
      </p:sp>
      <p:sp>
        <p:nvSpPr>
          <p:cNvPr id="6" name="Google Shape;1887;p43">
            <a:extLst>
              <a:ext uri="{FF2B5EF4-FFF2-40B4-BE49-F238E27FC236}">
                <a16:creationId xmlns:a16="http://schemas.microsoft.com/office/drawing/2014/main" id="{0ECA6584-85C5-5AC4-463A-0CE40EACB6AC}"/>
              </a:ext>
            </a:extLst>
          </p:cNvPr>
          <p:cNvSpPr txBox="1">
            <a:spLocks/>
          </p:cNvSpPr>
          <p:nvPr/>
        </p:nvSpPr>
        <p:spPr>
          <a:xfrm>
            <a:off x="371116" y="1738902"/>
            <a:ext cx="11634956" cy="38855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5" name="Google Shape;1887;p43">
            <a:extLst>
              <a:ext uri="{FF2B5EF4-FFF2-40B4-BE49-F238E27FC236}">
                <a16:creationId xmlns:a16="http://schemas.microsoft.com/office/drawing/2014/main" id="{A2ED992A-D2E3-B85D-140E-C9C17C96B591}"/>
              </a:ext>
            </a:extLst>
          </p:cNvPr>
          <p:cNvSpPr txBox="1">
            <a:spLocks/>
          </p:cNvSpPr>
          <p:nvPr/>
        </p:nvSpPr>
        <p:spPr>
          <a:xfrm>
            <a:off x="278520" y="1534783"/>
            <a:ext cx="11634956" cy="528155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Supervised Model – </a:t>
            </a:r>
            <a:r>
              <a:rPr lang="en-US" sz="2400" b="1" dirty="0" err="1"/>
              <a:t>XGBoost</a:t>
            </a:r>
            <a:r>
              <a:rPr lang="en-US" sz="2400" b="1" dirty="0"/>
              <a:t> </a:t>
            </a:r>
          </a:p>
          <a:p>
            <a:pPr lvl="1"/>
            <a:r>
              <a:rPr lang="en-US" sz="2000" dirty="0"/>
              <a:t>Builds decision trees where each tree corrects the mistakes of the previous one. A technique that improves model performance by adjusting for errors in previous trees.</a:t>
            </a:r>
          </a:p>
          <a:p>
            <a:pPr lvl="1"/>
            <a:r>
              <a:rPr lang="en-US" sz="2000" dirty="0"/>
              <a:t>Strong classifier, with fast processing, and effectively handles imbalanced data, making it a suitable choice for our project.</a:t>
            </a:r>
            <a:endParaRPr lang="en-US" sz="2000" b="1" dirty="0"/>
          </a:p>
          <a:p>
            <a:r>
              <a:rPr lang="en-US" sz="2400" b="1" dirty="0"/>
              <a:t>SOA Replication</a:t>
            </a:r>
          </a:p>
          <a:p>
            <a:pPr lvl="1"/>
            <a:r>
              <a:rPr lang="en-US" sz="2000" dirty="0"/>
              <a:t>A State-of-the-Art performance was found in </a:t>
            </a:r>
            <a:r>
              <a:rPr lang="en-US" sz="2000" b="1" dirty="0">
                <a:hlinkClick r:id="rId3"/>
              </a:rPr>
              <a:t>Kaggle</a:t>
            </a:r>
            <a:r>
              <a:rPr lang="en-US" sz="2000" dirty="0"/>
              <a:t> with same dataset and supervised modelling.</a:t>
            </a:r>
          </a:p>
          <a:p>
            <a:pPr lvl="1"/>
            <a:r>
              <a:rPr lang="en-US" sz="2000" dirty="0"/>
              <a:t>The author focused on feature engineering and data preprocessing to get better performance:</a:t>
            </a:r>
          </a:p>
          <a:p>
            <a:pPr lvl="2"/>
            <a:r>
              <a:rPr lang="en-US" sz="1600" dirty="0"/>
              <a:t>Created key features such as transaction time, age, distance to merchant and encoded categorical variables such as </a:t>
            </a:r>
            <a:r>
              <a:rPr lang="en-US" sz="1600" b="1" dirty="0"/>
              <a:t>job</a:t>
            </a:r>
            <a:r>
              <a:rPr lang="en-US" sz="1600" dirty="0"/>
              <a:t> and </a:t>
            </a:r>
            <a:r>
              <a:rPr lang="en-US" sz="1600" b="1" dirty="0"/>
              <a:t>state</a:t>
            </a:r>
            <a:r>
              <a:rPr lang="en-US" sz="1600" dirty="0"/>
              <a:t> using a </a:t>
            </a:r>
            <a:r>
              <a:rPr lang="en-US" sz="1600" b="1" dirty="0" err="1"/>
              <a:t>LabelEncoder</a:t>
            </a:r>
            <a:r>
              <a:rPr lang="en-US" sz="1600" b="1" dirty="0"/>
              <a:t>.</a:t>
            </a:r>
            <a:endParaRPr lang="en-US" sz="1600" dirty="0"/>
          </a:p>
          <a:p>
            <a:pPr lvl="2"/>
            <a:r>
              <a:rPr lang="en-US" sz="1600" dirty="0"/>
              <a:t>Removed unnecessary features to enhance model performance (such as </a:t>
            </a:r>
            <a:r>
              <a:rPr lang="en-US" sz="1600" dirty="0" err="1"/>
              <a:t>trans_id</a:t>
            </a:r>
            <a:r>
              <a:rPr lang="en-US" sz="1600" dirty="0"/>
              <a:t>, names, </a:t>
            </a:r>
            <a:r>
              <a:rPr lang="en-US" sz="1600" dirty="0" err="1"/>
              <a:t>etc</a:t>
            </a:r>
            <a:r>
              <a:rPr lang="en-US" sz="1600" dirty="0"/>
              <a:t>…)</a:t>
            </a:r>
          </a:p>
          <a:p>
            <a:pPr marL="914400" lvl="2" indent="0">
              <a:buNone/>
            </a:pPr>
            <a:endParaRPr lang="en-US" sz="1400" dirty="0"/>
          </a:p>
          <a:p>
            <a:pPr lvl="1"/>
            <a:endParaRPr lang="en-US" sz="1800" dirty="0"/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B64EBE-D6C7-870B-C9EC-6AFF65372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387705"/>
              </p:ext>
            </p:extLst>
          </p:nvPr>
        </p:nvGraphicFramePr>
        <p:xfrm>
          <a:off x="2844800" y="5249713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97608005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2735503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3270314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84562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861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Author’s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93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Replica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73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Our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0.845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14403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FEBE6C-8B2C-3EFB-2107-823025534E3F}"/>
              </a:ext>
            </a:extLst>
          </p:cNvPr>
          <p:cNvCxnSpPr>
            <a:cxnSpLocks/>
          </p:cNvCxnSpPr>
          <p:nvPr/>
        </p:nvCxnSpPr>
        <p:spPr>
          <a:xfrm>
            <a:off x="9433560" y="6548438"/>
            <a:ext cx="876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A287D0-8C6D-2FE0-91FF-1FD13A156ACA}"/>
              </a:ext>
            </a:extLst>
          </p:cNvPr>
          <p:cNvSpPr txBox="1"/>
          <p:nvPr/>
        </p:nvSpPr>
        <p:spPr>
          <a:xfrm>
            <a:off x="10309860" y="6317605"/>
            <a:ext cx="1882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Better than the current SOA</a:t>
            </a:r>
          </a:p>
        </p:txBody>
      </p:sp>
    </p:spTree>
    <p:extLst>
      <p:ext uri="{BB962C8B-B14F-4D97-AF65-F5344CB8AC3E}">
        <p14:creationId xmlns:p14="http://schemas.microsoft.com/office/powerpoint/2010/main" val="433549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254C1-EE8B-FDF0-444C-DB1B6F08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1E086F7-071A-E4F7-632C-A49937401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9A9379-96A5-0423-5BE6-DE1FE6FF9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5D8AF8-914E-5106-084D-76732B48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EC0688-CB7E-0A51-44E8-22DA06C1A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7BAA32-1A55-BB71-0784-24BAB9312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6B2BF2-C25E-8A11-737F-31DAFCA42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63DE8CD-F8F4-55B8-7C8E-4AB96D88E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88C7D-80C5-8CD8-579F-88B059FEE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Workflow / Pipeline</a:t>
            </a:r>
          </a:p>
        </p:txBody>
      </p:sp>
    </p:spTree>
    <p:extLst>
      <p:ext uri="{BB962C8B-B14F-4D97-AF65-F5344CB8AC3E}">
        <p14:creationId xmlns:p14="http://schemas.microsoft.com/office/powerpoint/2010/main" val="4107568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E822F-7DD4-13FA-AEB1-23200E87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E9FC11B3-582C-E634-5F8C-981130BE2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9500A492-2E0A-01D7-3CBD-3EE46CD0A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E5E91929-2DC6-75AD-52D8-3A5642D85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6113EDDF-6913-7104-C85F-C110E2DC8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C593C-119C-AE0C-EE4F-E15CCAEA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</a:t>
            </a:r>
          </a:p>
        </p:txBody>
      </p:sp>
      <p:sp>
        <p:nvSpPr>
          <p:cNvPr id="6" name="Google Shape;1887;p43">
            <a:extLst>
              <a:ext uri="{FF2B5EF4-FFF2-40B4-BE49-F238E27FC236}">
                <a16:creationId xmlns:a16="http://schemas.microsoft.com/office/drawing/2014/main" id="{D5BD5085-E313-F9C9-21C7-295DA6DA7C93}"/>
              </a:ext>
            </a:extLst>
          </p:cNvPr>
          <p:cNvSpPr txBox="1">
            <a:spLocks/>
          </p:cNvSpPr>
          <p:nvPr/>
        </p:nvSpPr>
        <p:spPr>
          <a:xfrm>
            <a:off x="371116" y="1738902"/>
            <a:ext cx="11634956" cy="388559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8106B-E0F9-1071-027A-BE0E16CF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056" y="2185074"/>
            <a:ext cx="9789888" cy="339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4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19578-57F2-B485-EA6B-0F87FB802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A75372B-2406-5184-AFE4-9DDA49B0B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68F761-FE9D-E8EA-B6E1-AF219F676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721165-A88D-7789-99EC-BF9923D2C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4ED5C6-B31F-AD9B-C35C-E474C2C6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51FC21-E5D5-3B90-8AEB-7A6ECFFF8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E531DC-E05B-BC67-BA46-8D728BAE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DA3FB5A-FD14-DB40-BD1F-9DD9E8494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F89DF-B289-A7F3-A916-6DEFCFEB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3976192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BAC27-D294-8434-4546-70DFCAE2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BFDA42CD-FB88-D1BF-207F-CB7BDB894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D6C4449D-5087-29FE-F98C-18B33C91D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15BF52DA-D53F-D049-5FF5-570E78DFBA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5402862A-176C-3121-C517-776A20E34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2A62E-1881-390F-5EFB-CF328CAE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Exploring the Data: Initial overview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F0008-9E4D-6E92-6454-73C4A419A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Dataset Selection: kartik2112’s Credit Card Transaction Fraud Detection Dataset from </a:t>
            </a:r>
            <a:r>
              <a:rPr lang="en-US" dirty="0">
                <a:hlinkClick r:id="rId3"/>
              </a:rPr>
              <a:t>Kaggle</a:t>
            </a:r>
            <a:endParaRPr lang="en-US" dirty="0"/>
          </a:p>
          <a:p>
            <a:r>
              <a:rPr lang="en-US" dirty="0"/>
              <a:t>Original Dataset size 1,296,675 samples with 33 features</a:t>
            </a:r>
          </a:p>
          <a:p>
            <a:r>
              <a:rPr lang="en-US" dirty="0"/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Contamination Rate &lt; 0.58% (#Frauds/#Total)</a:t>
            </a:r>
            <a:endParaRPr lang="en-US" dirty="0"/>
          </a:p>
          <a:p>
            <a:r>
              <a:rPr lang="en-US" dirty="0"/>
              <a:t>Mixed attributes (each feature type must be handled accordingly)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5" name="Picture 4" descr="A group of text boxes&#10;&#10;AI-generated content may be incorrect.">
            <a:extLst>
              <a:ext uri="{FF2B5EF4-FFF2-40B4-BE49-F238E27FC236}">
                <a16:creationId xmlns:a16="http://schemas.microsoft.com/office/drawing/2014/main" id="{420254E2-C1AB-2615-8B8C-4F35D60F1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55" y="4250370"/>
            <a:ext cx="11011086" cy="22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8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B829D-C11C-92DF-851F-B2929E74F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8C28BAB-A6E7-4940-8E88-7C81ED9F3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F87D6B-6A16-3496-9351-66AE0CDC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44347F-58D1-3D85-8CBB-77BAD4D0A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A60923-F647-4121-9666-D8BE62D6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B16D21-7F08-DADA-48AA-58A399CCC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469B07-9B6D-BF3A-5B30-DCEC4779E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14B4E68-4E22-AFE4-05F7-055680514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F21CA-C3F6-6272-A54A-1FD3E088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1622898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4CE8A-D3A2-95E3-D477-B63D74B9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Categorical Feature: Category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76FD8B59-94DB-2E5A-4067-4447F9C9F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24" y="1822348"/>
            <a:ext cx="10140696" cy="503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8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B7467-10DD-3AC7-38C8-91E7637C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1E769CD9-8AD2-5AD5-9E33-DFC364DB4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48B39AD2-6F27-4386-6357-F454BAA0F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21746624-D2A3-A085-A43C-0C7AF5207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3C2FCE79-DBE7-C856-6413-AB2F3F40C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03E57-A9E6-F87E-EAE3-ECE550EA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Categorical Feature: Age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8A7CD-C67B-D740-C81E-E92DCDCB5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655276"/>
            <a:ext cx="6495288" cy="506095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Feature Engineering: Bin ages to different age-groups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9AB1D23-D61B-BFB6-0234-29D2D3804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768" y="2057401"/>
            <a:ext cx="7031735" cy="472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680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0AA70-3377-A7EC-5694-B5C1FEBB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C133D22F-90E1-684D-5CD0-8B1A040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D1AFE56D-1BD1-C9E8-362A-ACD9D0E99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81475F42-A1E4-A64B-1F8E-3129E5919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6CB45DE8-A1FA-6396-3584-64387A14C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35C8E-EC16-AB18-84D9-5FD5F90A1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Numerical Feature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s: Age and Amt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C7DE-2878-C131-906E-349ED6DE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655276"/>
            <a:ext cx="6495288" cy="506095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Feature Engineering: Extracted age from DOB of CC Holder</a:t>
            </a:r>
          </a:p>
          <a:p>
            <a:endParaRPr lang="en-US" sz="28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0DB535C-0F1D-502C-7028-085159071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916" y="1977204"/>
            <a:ext cx="8305800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13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7880C-DF4F-8B04-4801-625313BC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B28964A0-FC5C-4294-8269-C0A6E8AF3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E9EC75F3-183B-B95D-6216-8E9283C1B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7B8EF7AE-4A8C-79A6-8AAF-254186A1C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81180B35-5C82-32B5-9952-E3C835006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F60D3-C306-6D35-1204-12B48ECC2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681" y="248038"/>
            <a:ext cx="897463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DateTime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Feature: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trans_date_trans_time</a:t>
            </a:r>
            <a:endParaRPr lang="en-US" sz="3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7D877-F461-690C-C436-582ECD6E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655277"/>
            <a:ext cx="8378952" cy="382100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Feature Engineering: Extract year, month, day from </a:t>
            </a:r>
            <a:r>
              <a:rPr lang="en-US" sz="2400" dirty="0" err="1"/>
              <a:t>trans_date_trans_time</a:t>
            </a:r>
            <a:endParaRPr lang="en-US" sz="2400" dirty="0"/>
          </a:p>
          <a:p>
            <a:endParaRPr lang="en-US" sz="28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4849582-0227-BB6B-9FFA-4AB6D79AD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81" y="2039022"/>
            <a:ext cx="11290755" cy="43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66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EFDDB-2EA7-AE1F-7818-97D63FB5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341F85CD-3CE9-4022-B3EA-555436CC5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16BF8A4F-3A2B-4C1E-1472-BCBEC883E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41E37188-1157-C169-61FC-762AAA360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5996543-91EF-787D-046C-214D461D5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A648F-E584-9DA7-8560-7000A0056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681" y="248038"/>
            <a:ext cx="897463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DateTime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Feature: </a:t>
            </a: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trans_date_trans_time</a:t>
            </a:r>
            <a:endParaRPr lang="en-US" sz="3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2D04E-96D9-6163-2344-C7A4F0A54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1655277"/>
            <a:ext cx="8378952" cy="382100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Feature Engineering: Extract hour from </a:t>
            </a:r>
            <a:r>
              <a:rPr lang="en-US" sz="2200" dirty="0" err="1"/>
              <a:t>trans_date_trans_time</a:t>
            </a:r>
            <a:endParaRPr lang="en-US" sz="2200" dirty="0"/>
          </a:p>
          <a:p>
            <a:endParaRPr lang="en-US" sz="28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1467F95-F7BA-69B9-22B9-84981E31C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04" y="2037377"/>
            <a:ext cx="11012295" cy="417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076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4BD12-D98D-B6F5-7CBB-67E7F2BF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14454EF-52C9-BB88-0FB0-87A5E44F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2D9953-46C7-D673-0611-D774609AA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DBA6FE-8D3A-4CD7-E988-D6061A036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4D5443-E42C-A7BF-CD24-297855EDC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F9A642-56C5-483A-030F-9820B59FC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4E22D-75B5-C7A4-9EAA-9F1DBD39B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B0831-D05D-9EFB-7FF2-2FEAA9C16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C9094-6E89-CF5E-5E20-C7B3F3C6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Selection and 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638337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9DEB8-C5A5-EBD8-8B23-4919B6E98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5A8167AD-F89C-BA74-FD34-278E505CB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FC376F80-1CA6-1A96-AD44-6417D8FDB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125E0230-01E0-3161-6B17-8F3EDE6DA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F09467A-52A7-691C-0C13-C6A17BF47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E9F56-37D7-55AA-85BA-6D348F7C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Selection and Data 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Preprocessing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B2326-3DD7-08C0-D0C6-1D65AD6F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Features selected: 'merchant', '</a:t>
            </a:r>
            <a:r>
              <a:rPr lang="en-US" dirty="0" err="1"/>
              <a:t>merchant_risk</a:t>
            </a:r>
            <a:r>
              <a:rPr lang="en-US" dirty="0"/>
              <a:t>', 'category', 'amt', 'gender', '</a:t>
            </a:r>
            <a:r>
              <a:rPr lang="en-US" dirty="0" err="1"/>
              <a:t>city_pop</a:t>
            </a:r>
            <a:r>
              <a:rPr lang="en-US" dirty="0"/>
              <a:t>', '</a:t>
            </a:r>
            <a:r>
              <a:rPr lang="en-US" dirty="0" err="1"/>
              <a:t>job','age</a:t>
            </a:r>
            <a:r>
              <a:rPr lang="en-US" dirty="0"/>
              <a:t>', 'year', 'month', 'day', 'hour', 'minute’, '</a:t>
            </a:r>
            <a:r>
              <a:rPr lang="en-US" dirty="0" err="1"/>
              <a:t>is_fraud</a:t>
            </a:r>
            <a:r>
              <a:rPr lang="en-US" dirty="0"/>
              <a:t>’</a:t>
            </a:r>
          </a:p>
          <a:p>
            <a:r>
              <a:rPr lang="en-US" dirty="0"/>
              <a:t>Preprocessing:</a:t>
            </a:r>
          </a:p>
          <a:p>
            <a:pPr lvl="1"/>
            <a:r>
              <a:rPr lang="en-US" dirty="0"/>
              <a:t>Feature ‘category’ (~10 unique value) </a:t>
            </a:r>
            <a:r>
              <a:rPr lang="en-US" dirty="0">
                <a:sym typeface="Wingdings" panose="05000000000000000000" pitchFamily="2" charset="2"/>
              </a:rPr>
              <a:t> One Hot Encoding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Feature ‘gender’  Label Encoding (0-1)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Feature ‘merchant’ and ‘job’  Frequency Encoding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Features ‘amt’, ‘</a:t>
            </a:r>
            <a:r>
              <a:rPr lang="en-US" dirty="0" err="1">
                <a:sym typeface="Wingdings" panose="05000000000000000000" pitchFamily="2" charset="2"/>
              </a:rPr>
              <a:t>city_pop</a:t>
            </a:r>
            <a:r>
              <a:rPr lang="en-US" dirty="0">
                <a:sym typeface="Wingdings" panose="05000000000000000000" pitchFamily="2" charset="2"/>
              </a:rPr>
              <a:t>’, ‘age’  Log-transformed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Then, all numerical features has been normalized to range </a:t>
            </a:r>
            <a:r>
              <a:rPr lang="en-US" b="1" dirty="0">
                <a:sym typeface="Wingdings" panose="05000000000000000000" pitchFamily="2" charset="2"/>
              </a:rPr>
              <a:t>[0, 1]</a:t>
            </a:r>
          </a:p>
          <a:p>
            <a:r>
              <a:rPr lang="en-US" dirty="0"/>
              <a:t>Data split: 70% training and 30% testing, with stratified sampling.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596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99E59-34A4-7BDA-C4C9-F95E55BF3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06168AD-ED69-581F-B082-FC451F3D5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52CE2A-EFBB-F305-1CAB-8B3FA7D6B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E21427-0624-8BFD-17D2-FB36A0E7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5344F8-63C6-FCBE-BD92-FA25EDCE2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998675-0041-4A7C-5DA2-38B96503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DC6A19-0E80-D515-CDDB-23A551A8B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E548D6C-C7D3-5D7C-1D8D-37670331C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5B42D-4DF9-9C17-A951-25A000872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Classifier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755012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2246B-0475-3956-EA14-63B61C72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20A72116-7C83-ABCA-6EB3-EA9C0CDD2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1A581182-C893-7BCD-2209-61A639043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F39901D3-7D06-D99F-FFE2-B363B77F9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310476D0-EDFE-1AD1-EA07-01FFA84F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67AE6-05D4-B50B-8CBA-B47EB03A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Classifier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A6D63-D977-FDB0-181C-12F285485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We wanted a strong classifier that has the following properties:</a:t>
            </a:r>
          </a:p>
          <a:p>
            <a:pPr lvl="1"/>
            <a:r>
              <a:rPr lang="en-US" dirty="0"/>
              <a:t>A classifier that is highly interpretable.</a:t>
            </a:r>
          </a:p>
          <a:p>
            <a:pPr lvl="1"/>
            <a:r>
              <a:rPr lang="en-US" dirty="0"/>
              <a:t>A classifier that can handle class imbalance well.</a:t>
            </a:r>
          </a:p>
          <a:p>
            <a:pPr lvl="1"/>
            <a:r>
              <a:rPr lang="en-US" dirty="0"/>
              <a:t>A classifier that is fast and efficient in training.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All these properties pointed to a single classifier, that is the </a:t>
            </a:r>
            <a:r>
              <a:rPr lang="en-US" b="1" dirty="0" err="1"/>
              <a:t>XGBoost</a:t>
            </a:r>
            <a:r>
              <a:rPr lang="en-US" dirty="0"/>
              <a:t>!</a:t>
            </a:r>
          </a:p>
          <a:p>
            <a:r>
              <a:rPr lang="en-US" dirty="0"/>
              <a:t>The base model was trained using the parameters: </a:t>
            </a:r>
          </a:p>
          <a:p>
            <a:pPr lvl="1"/>
            <a:r>
              <a:rPr lang="en-US" dirty="0" err="1"/>
              <a:t>n_estimators</a:t>
            </a:r>
            <a:r>
              <a:rPr lang="en-US" dirty="0"/>
              <a:t> = 500, </a:t>
            </a:r>
            <a:r>
              <a:rPr lang="en-US" dirty="0" err="1"/>
              <a:t>learning_rate</a:t>
            </a:r>
            <a:r>
              <a:rPr lang="en-US" dirty="0"/>
              <a:t> = 0.2, objective = '</a:t>
            </a:r>
            <a:r>
              <a:rPr lang="en-US" dirty="0" err="1"/>
              <a:t>binary:logistics</a:t>
            </a:r>
            <a:r>
              <a:rPr lang="en-US" dirty="0"/>
              <a:t>', </a:t>
            </a:r>
            <a:r>
              <a:rPr lang="en-US" dirty="0" err="1"/>
              <a:t>eval_metric</a:t>
            </a:r>
            <a:r>
              <a:rPr lang="en-US" dirty="0"/>
              <a:t> = '</a:t>
            </a:r>
            <a:r>
              <a:rPr lang="en-US" dirty="0" err="1"/>
              <a:t>logloss</a:t>
            </a:r>
            <a:r>
              <a:rPr lang="en-US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664365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26D1D-ACEE-0F06-10C8-7E5C884F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12586440-AEBD-FEEA-62E3-E628CFAD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EF6E0BA5-DF7A-3653-F647-284C46DE6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8F943F5F-0959-24F3-5650-25C0FAE55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DFD82A0A-5215-5057-FC32-6577C1239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42388-882B-F0C5-4637-66154ADA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XGBoost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Experiments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1F1BA-6846-AA17-02C5-200FF4D75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9713" y="1661033"/>
                <a:ext cx="10654087" cy="5032375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br>
                  <a:rPr lang="en-US" sz="1500" dirty="0"/>
                </a:br>
                <a:r>
                  <a:rPr lang="en-US" sz="1500" dirty="0"/>
                  <a:t>* </a:t>
                </a:r>
                <a:r>
                  <a:rPr lang="en-US" sz="1500" dirty="0" err="1"/>
                  <a:t>scale_pos_weight</a:t>
                </a:r>
                <a:r>
                  <a:rPr lang="en-US" sz="1500" dirty="0"/>
                  <a:t> = #normal/#fraud </a:t>
                </a:r>
                <a14:m>
                  <m:oMath xmlns:m="http://schemas.openxmlformats.org/officeDocument/2006/math">
                    <m:r>
                      <a:rPr lang="en-US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500" dirty="0"/>
                  <a:t> 171.75</a:t>
                </a:r>
              </a:p>
              <a:p>
                <a:r>
                  <a:rPr lang="en-US" dirty="0"/>
                  <a:t>We ran three experiments on the model, we used the parameters in the previous slide for all three experiments</a:t>
                </a:r>
              </a:p>
              <a:p>
                <a:r>
                  <a:rPr lang="en-US" dirty="0"/>
                  <a:t>The base model shows the most promise in terms of precision and F1-score.</a:t>
                </a:r>
              </a:p>
              <a:p>
                <a:pPr lvl="1"/>
                <a:r>
                  <a:rPr lang="en-US" dirty="0"/>
                  <a:t>How did all the features impacted on the model performance?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F1F1BA-6846-AA17-02C5-200FF4D75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713" y="1661033"/>
                <a:ext cx="10654087" cy="5032375"/>
              </a:xfrm>
              <a:blipFill>
                <a:blip r:embed="rId2"/>
                <a:stretch>
                  <a:fillRect l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DB8455-5EB3-38A8-113C-2B681E689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811623"/>
              </p:ext>
            </p:extLst>
          </p:nvPr>
        </p:nvGraphicFramePr>
        <p:xfrm>
          <a:off x="775334" y="1738902"/>
          <a:ext cx="10641332" cy="201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333">
                  <a:extLst>
                    <a:ext uri="{9D8B030D-6E8A-4147-A177-3AD203B41FA5}">
                      <a16:colId xmlns:a16="http://schemas.microsoft.com/office/drawing/2014/main" val="31699197"/>
                    </a:ext>
                  </a:extLst>
                </a:gridCol>
                <a:gridCol w="2660333">
                  <a:extLst>
                    <a:ext uri="{9D8B030D-6E8A-4147-A177-3AD203B41FA5}">
                      <a16:colId xmlns:a16="http://schemas.microsoft.com/office/drawing/2014/main" val="2179810483"/>
                    </a:ext>
                  </a:extLst>
                </a:gridCol>
                <a:gridCol w="2660333">
                  <a:extLst>
                    <a:ext uri="{9D8B030D-6E8A-4147-A177-3AD203B41FA5}">
                      <a16:colId xmlns:a16="http://schemas.microsoft.com/office/drawing/2014/main" val="4137960887"/>
                    </a:ext>
                  </a:extLst>
                </a:gridCol>
                <a:gridCol w="2660333">
                  <a:extLst>
                    <a:ext uri="{9D8B030D-6E8A-4147-A177-3AD203B41FA5}">
                      <a16:colId xmlns:a16="http://schemas.microsoft.com/office/drawing/2014/main" val="3247289496"/>
                    </a:ext>
                  </a:extLst>
                </a:gridCol>
              </a:tblGrid>
              <a:tr h="36486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8412"/>
                  </a:ext>
                </a:extLst>
              </a:tr>
              <a:tr h="638520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Base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0.90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274261"/>
                  </a:ext>
                </a:extLst>
              </a:tr>
              <a:tr h="364869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Random Oversampling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0.89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122112"/>
                  </a:ext>
                </a:extLst>
              </a:tr>
              <a:tr h="364869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Tuning </a:t>
                      </a:r>
                      <a:r>
                        <a:rPr lang="en-US" b="1" dirty="0" err="1"/>
                        <a:t>scale_pos_weight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581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028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16275-8858-3A99-D648-DF17D949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Base </a:t>
            </a:r>
            <a:r>
              <a:rPr 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XGBoost’s</a:t>
            </a: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Interpretability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9C26D024-D4D1-C02D-E568-A28A02C4A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2126486"/>
            <a:ext cx="5493841" cy="384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ED8A526-188B-E88D-1A60-3EE3B4256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801" y="2126486"/>
            <a:ext cx="5916487" cy="392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0A5BA-2019-E7BD-EE67-20BCDF3C5D55}"/>
              </a:ext>
            </a:extLst>
          </p:cNvPr>
          <p:cNvSpPr txBox="1"/>
          <p:nvPr/>
        </p:nvSpPr>
        <p:spPr>
          <a:xfrm>
            <a:off x="11261668" y="164592"/>
            <a:ext cx="29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776040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B7A04-ADE5-382A-16FD-B64491B4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9EECDE3F-CF9A-B171-6DDB-22660F21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611B5F88-D754-905C-4423-AF45107B1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2DE25CC8-7D5D-E1E9-D93D-CD337B2C7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A74A9BC5-B3FB-87B7-9A1C-5873452F3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988CF71F-E741-894C-AC18-1E425A82F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F1666-C00A-57EA-FE16-9EA8F3F7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SHAP Analysis</a:t>
            </a:r>
            <a:b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5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Summary Plot</a:t>
            </a:r>
            <a:b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69ED2-C66E-1F42-59E9-94828A1D54AC}"/>
              </a:ext>
            </a:extLst>
          </p:cNvPr>
          <p:cNvSpPr txBox="1"/>
          <p:nvPr/>
        </p:nvSpPr>
        <p:spPr>
          <a:xfrm>
            <a:off x="11261668" y="164592"/>
            <a:ext cx="290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02E969-F349-8F24-9785-9D631E43A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678" y="17819"/>
            <a:ext cx="729363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389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DE4FF-A6AA-B5DC-DCC0-5DC2C0A9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Precision and Recall Tradeoff</a:t>
            </a:r>
            <a:b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63E7BB6-48B4-1989-FE50-190119705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876" y="1386664"/>
            <a:ext cx="8018524" cy="499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83F1EC-B020-2B37-B833-291F9BDCBFD2}"/>
              </a:ext>
            </a:extLst>
          </p:cNvPr>
          <p:cNvCxnSpPr/>
          <p:nvPr/>
        </p:nvCxnSpPr>
        <p:spPr>
          <a:xfrm flipV="1">
            <a:off x="5727700" y="2089150"/>
            <a:ext cx="0" cy="38671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EA72A5-D926-F829-78D8-C19C3B83B481}"/>
              </a:ext>
            </a:extLst>
          </p:cNvPr>
          <p:cNvCxnSpPr/>
          <p:nvPr/>
        </p:nvCxnSpPr>
        <p:spPr>
          <a:xfrm>
            <a:off x="4641850" y="2095500"/>
            <a:ext cx="10795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267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A0AC6-6138-DFE5-7FB0-73065F62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33FE1764-0CA9-80D5-639D-B6FB096AB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685C3D8B-2EC9-E71D-00A7-EC1D4FDB1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9CE5CE17-891D-35E5-130B-63F4AB50D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2A793E11-A6DC-3FFA-496E-9A366E727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7AE2F-79FC-BEE4-C286-5964BF5F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Precision and Recall Tradeoff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690AD-A452-6899-D329-CEF9E4D8E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What threshold yields the best result?</a:t>
            </a:r>
            <a:endParaRPr lang="ar-SA" dirty="0"/>
          </a:p>
          <a:p>
            <a:pPr lvl="1"/>
            <a:r>
              <a:rPr lang="en-US" dirty="0"/>
              <a:t>It depends!</a:t>
            </a:r>
          </a:p>
          <a:p>
            <a:r>
              <a:rPr lang="en-US" dirty="0"/>
              <a:t>Choosing a higher threshold will result in a higher precision but lower recall.</a:t>
            </a:r>
          </a:p>
          <a:p>
            <a:pPr lvl="1"/>
            <a:r>
              <a:rPr lang="en-US" dirty="0"/>
              <a:t>What metric should we prioritize?</a:t>
            </a:r>
          </a:p>
          <a:p>
            <a:r>
              <a:rPr lang="en-US" dirty="0"/>
              <a:t>Do we want to capture all the frauds? or do we want to reduce manual investigation to reduce time and cost?</a:t>
            </a:r>
          </a:p>
          <a:p>
            <a:pPr lvl="1"/>
            <a:r>
              <a:rPr lang="en-US" dirty="0"/>
              <a:t>How about a balance?</a:t>
            </a:r>
          </a:p>
          <a:p>
            <a:r>
              <a:rPr lang="en-US" dirty="0"/>
              <a:t>We chose a threshold of T = 0.15; strikes a balance of recall = 0.</a:t>
            </a:r>
            <a:r>
              <a:rPr lang="ar-SA" dirty="0"/>
              <a:t>89</a:t>
            </a:r>
            <a:r>
              <a:rPr lang="en-US" dirty="0"/>
              <a:t>, precision = 0.</a:t>
            </a:r>
            <a:r>
              <a:rPr lang="ar-SA" dirty="0"/>
              <a:t>89</a:t>
            </a:r>
            <a:r>
              <a:rPr lang="en-US" dirty="0"/>
              <a:t> and F1 score of 0.</a:t>
            </a:r>
            <a:r>
              <a:rPr lang="ar-SA" dirty="0"/>
              <a:t>89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7888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F0160-1AF2-A55E-E106-CFB9F78E6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9539B6-B348-82E6-2133-5F546AB9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DD5B8C-D8DE-72AD-670E-2A0F4F17F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F47D33-16BF-142F-2D20-183ADC206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3C844F-C263-4FC2-5A56-3C4017FF8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68CF21-9008-A123-D307-1BD76866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D7740F-4789-BDD1-753D-EFFA37BC9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779A32E-28A7-CFF2-3078-CDC3B0D50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E6AA9-ED0D-525A-98CF-0CAD5BAB7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Clustering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057522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D8A90-F74F-C0CC-A384-826D671A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15F1F371-EC3B-1303-C448-8921F7F16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BA971A98-898A-7F89-1F36-B7007FA8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718484A2-8D83-E202-7169-75DB31252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E21E4968-4010-AF72-DCB2-36EED28E3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285D3-CCD9-C997-47D4-25A30F68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Clustering Risk labels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D19C3-3869-E940-50CB-B458B2750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Approach</a:t>
            </a:r>
          </a:p>
          <a:p>
            <a:pPr lvl="1"/>
            <a:r>
              <a:rPr lang="en-US" dirty="0"/>
              <a:t>Gather all fraud transaction classified by </a:t>
            </a:r>
            <a:r>
              <a:rPr lang="en-US" dirty="0" err="1"/>
              <a:t>XGBoost</a:t>
            </a:r>
            <a:r>
              <a:rPr lang="en-US" dirty="0"/>
              <a:t> then,</a:t>
            </a:r>
          </a:p>
          <a:p>
            <a:pPr lvl="1"/>
            <a:r>
              <a:rPr lang="en-US" dirty="0"/>
              <a:t>Divide them into three risk categories, </a:t>
            </a:r>
            <a:r>
              <a:rPr lang="en-US" b="1" dirty="0"/>
              <a:t>low</a:t>
            </a:r>
            <a:r>
              <a:rPr lang="en-US" dirty="0"/>
              <a:t>, </a:t>
            </a:r>
            <a:r>
              <a:rPr lang="en-US" b="1" dirty="0"/>
              <a:t>medium</a:t>
            </a:r>
            <a:r>
              <a:rPr lang="en-US" dirty="0"/>
              <a:t>, or </a:t>
            </a:r>
            <a:r>
              <a:rPr lang="en-US" b="1" dirty="0"/>
              <a:t>high</a:t>
            </a:r>
            <a:r>
              <a:rPr lang="en-US" dirty="0"/>
              <a:t>.</a:t>
            </a:r>
          </a:p>
          <a:p>
            <a:r>
              <a:rPr lang="en-US" dirty="0"/>
              <a:t>Selecting risk-related features</a:t>
            </a:r>
          </a:p>
          <a:p>
            <a:pPr lvl="1"/>
            <a:r>
              <a:rPr lang="en-US" dirty="0"/>
              <a:t>Features: </a:t>
            </a:r>
            <a:r>
              <a:rPr lang="en-US" b="1" dirty="0"/>
              <a:t>‘amt’, ‘hour’, ‘age’, ‘</a:t>
            </a:r>
            <a:r>
              <a:rPr lang="en-US" b="1" dirty="0" err="1"/>
              <a:t>city_pop</a:t>
            </a:r>
            <a:r>
              <a:rPr lang="en-US" b="1" dirty="0"/>
              <a:t>’, ‘</a:t>
            </a:r>
            <a:r>
              <a:rPr lang="en-US" b="1" dirty="0" err="1"/>
              <a:t>job_freq</a:t>
            </a:r>
            <a:r>
              <a:rPr lang="en-US" b="1" dirty="0"/>
              <a:t>’</a:t>
            </a:r>
          </a:p>
          <a:p>
            <a:pPr marL="457200" lvl="1" indent="0">
              <a:buNone/>
            </a:pPr>
            <a:endParaRPr lang="en-US" b="1" dirty="0"/>
          </a:p>
          <a:p>
            <a:r>
              <a:rPr lang="en-US" dirty="0"/>
              <a:t>Clustering algorithm: </a:t>
            </a:r>
            <a:r>
              <a:rPr lang="en-US" b="1" dirty="0"/>
              <a:t>k-means </a:t>
            </a:r>
            <a:r>
              <a:rPr lang="en-US" dirty="0"/>
              <a:t>with k = 3 </a:t>
            </a:r>
            <a:r>
              <a:rPr lang="en-US" dirty="0">
                <a:sym typeface="Wingdings" panose="05000000000000000000" pitchFamily="2" charset="2"/>
              </a:rPr>
              <a:t> Baseline</a:t>
            </a:r>
            <a:endParaRPr lang="en-US" dirty="0"/>
          </a:p>
          <a:p>
            <a:r>
              <a:rPr lang="en-US" dirty="0"/>
              <a:t>Silhouette Score: </a:t>
            </a:r>
            <a:r>
              <a:rPr lang="en-US" b="1" dirty="0"/>
              <a:t>0.830</a:t>
            </a:r>
          </a:p>
          <a:p>
            <a:pPr lvl="1"/>
            <a:r>
              <a:rPr lang="en-US" dirty="0"/>
              <a:t>Good clusters separations, but how about clusters meaningfulness?</a:t>
            </a:r>
          </a:p>
        </p:txBody>
      </p:sp>
    </p:spTree>
    <p:extLst>
      <p:ext uri="{BB962C8B-B14F-4D97-AF65-F5344CB8AC3E}">
        <p14:creationId xmlns:p14="http://schemas.microsoft.com/office/powerpoint/2010/main" val="4136214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98AEB-F24B-EFDD-C016-649FCD1E4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BFDF1098-76EF-4F41-E69C-7DAB1CD5E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2B1654E2-B73C-8BE7-D31E-EC2B4BFD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F0FD9622-6EAF-3EF3-9096-0A3DA1503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3FD3397E-0B2A-953D-08E4-9464BB814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34E0E-F476-91D4-2300-CC2891AB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Validating Clusters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4936-8589-3059-8363-C03C97F25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How do we know that these </a:t>
            </a:r>
            <a:r>
              <a:rPr lang="en-US" i="1" dirty="0"/>
              <a:t>clustered groups</a:t>
            </a:r>
            <a:r>
              <a:rPr lang="en-US" dirty="0"/>
              <a:t> describes different risks levels and not other description?</a:t>
            </a:r>
          </a:p>
          <a:p>
            <a:r>
              <a:rPr lang="en-US" dirty="0"/>
              <a:t>Realistic exceptions about labels distinctions</a:t>
            </a:r>
          </a:p>
          <a:p>
            <a:pPr lvl="1"/>
            <a:r>
              <a:rPr lang="en-US" dirty="0"/>
              <a:t>Low-risk and high-risk labels should be well separated (distinct)</a:t>
            </a:r>
          </a:p>
          <a:p>
            <a:pPr lvl="1"/>
            <a:r>
              <a:rPr lang="en-US" dirty="0"/>
              <a:t>Medium risk in other hands is a gray-area (</a:t>
            </a:r>
            <a:r>
              <a:rPr lang="en-US" i="1" dirty="0"/>
              <a:t>fuzzy</a:t>
            </a:r>
            <a:r>
              <a:rPr lang="en-US" dirty="0"/>
              <a:t>, or a mush between the two)</a:t>
            </a:r>
          </a:p>
          <a:p>
            <a:r>
              <a:rPr lang="en-US" dirty="0"/>
              <a:t>We included many analysis techniques to give us a view on the results from different angles,</a:t>
            </a:r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ANOVA</a:t>
            </a:r>
          </a:p>
          <a:p>
            <a:pPr lvl="1"/>
            <a:r>
              <a:rPr lang="en-US" dirty="0"/>
              <a:t>Post-Hoc Tests</a:t>
            </a:r>
          </a:p>
        </p:txBody>
      </p:sp>
    </p:spTree>
    <p:extLst>
      <p:ext uri="{BB962C8B-B14F-4D97-AF65-F5344CB8AC3E}">
        <p14:creationId xmlns:p14="http://schemas.microsoft.com/office/powerpoint/2010/main" val="1233710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711D1-015A-7DFC-5EC4-FD81D32F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A0CBD8C6-F4AC-5FCF-DFCC-338543F5D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C2456538-1FF3-54AE-6FFA-419A904D7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E5944E6B-6C0A-8851-0576-9A5E0DE2C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B372E66A-F1D9-E4A5-7E93-12D991172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BAB0F756-2024-13B9-63DF-E6DC68B4A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85D3D-C795-5362-3564-AACF131C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Histogram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B87806-D747-C06F-D269-27D42FCC7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603915"/>
            <a:ext cx="10725151" cy="508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228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89325-0597-D768-D557-CE99568A2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B944CC08-1FE4-C9DB-992A-FF01BEB9C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6D96CCB2-D424-54CE-E380-89897FBDF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491205E8-7FD2-A629-D914-A19158DF1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6FE76D75-623B-D10F-919E-A0C8C8C45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6883313A-1781-3624-313A-5DD3D1ACD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E972E-7038-BA6F-0FD4-BCBB14CD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One-way ANOVA Test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5EA30E-72BD-64B8-C354-CDB2C4A3A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Histograms shows the peak and spread of each feature per category.</a:t>
            </a:r>
          </a:p>
          <a:p>
            <a:pPr lvl="1"/>
            <a:r>
              <a:rPr lang="en-US" dirty="0"/>
              <a:t>There are many tests to determine the significant of each feature per risk.</a:t>
            </a:r>
          </a:p>
          <a:p>
            <a:r>
              <a:rPr lang="en-US" dirty="0">
                <a:sym typeface="Wingdings" panose="05000000000000000000" pitchFamily="2" charset="2"/>
              </a:rPr>
              <a:t>Let the </a:t>
            </a:r>
            <a:r>
              <a:rPr lang="en-US" b="1" dirty="0">
                <a:sym typeface="Wingdings" panose="05000000000000000000" pitchFamily="2" charset="2"/>
              </a:rPr>
              <a:t>Null Hypothesis </a:t>
            </a:r>
            <a:r>
              <a:rPr lang="en-US" dirty="0">
                <a:sym typeface="Wingdings" panose="05000000000000000000" pitchFamily="2" charset="2"/>
              </a:rPr>
              <a:t>be: “There is no significant difference in risk levels (based on the risky-features) between </a:t>
            </a:r>
            <a:r>
              <a:rPr lang="en-US" b="1" dirty="0">
                <a:sym typeface="Wingdings" panose="05000000000000000000" pitchFamily="2" charset="2"/>
              </a:rPr>
              <a:t>three groups </a:t>
            </a:r>
            <a:r>
              <a:rPr lang="en-US" dirty="0">
                <a:sym typeface="Wingdings" panose="05000000000000000000" pitchFamily="2" charset="2"/>
              </a:rPr>
              <a:t>being compared”.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We aim to reject this hypothesis through the </a:t>
            </a:r>
            <a:r>
              <a:rPr lang="en-US" b="1" dirty="0">
                <a:sym typeface="Wingdings" panose="05000000000000000000" pitchFamily="2" charset="2"/>
              </a:rPr>
              <a:t>ANOVA</a:t>
            </a:r>
            <a:r>
              <a:rPr lang="en-US" dirty="0">
                <a:sym typeface="Wingdings" panose="05000000000000000000" pitchFamily="2" charset="2"/>
              </a:rPr>
              <a:t> test, why?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Successfully rejecting this hypothesis, means there are significant differences for this feature in the risk groups.</a:t>
            </a:r>
          </a:p>
          <a:p>
            <a:r>
              <a:rPr lang="en-US" dirty="0">
                <a:sym typeface="Wingdings" panose="05000000000000000000" pitchFamily="2" charset="2"/>
              </a:rPr>
              <a:t>We used the standard statistical threshold in this test which is 0.05.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</a:t>
            </a:r>
            <a:r>
              <a:rPr lang="en-US" b="1" dirty="0">
                <a:sym typeface="Wingdings" panose="05000000000000000000" pitchFamily="2" charset="2"/>
              </a:rPr>
              <a:t>p &lt; 0.05</a:t>
            </a:r>
            <a:r>
              <a:rPr lang="en-US" dirty="0">
                <a:sym typeface="Wingdings" panose="05000000000000000000" pitchFamily="2" charset="2"/>
              </a:rPr>
              <a:t>, then the hypothesis is rejected  There are significant differences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</a:t>
            </a:r>
            <a:r>
              <a:rPr lang="en-US" b="1" dirty="0">
                <a:sym typeface="Wingdings" panose="05000000000000000000" pitchFamily="2" charset="2"/>
              </a:rPr>
              <a:t>p ≥ 0.05</a:t>
            </a:r>
            <a:r>
              <a:rPr lang="en-US" dirty="0">
                <a:sym typeface="Wingdings" panose="05000000000000000000" pitchFamily="2" charset="2"/>
              </a:rPr>
              <a:t>, then we failed to reject the hypothesis There are </a:t>
            </a:r>
            <a:r>
              <a:rPr lang="en-US" b="1" dirty="0">
                <a:sym typeface="Wingdings" panose="05000000000000000000" pitchFamily="2" charset="2"/>
              </a:rPr>
              <a:t>no</a:t>
            </a:r>
            <a:r>
              <a:rPr lang="en-US" dirty="0">
                <a:sym typeface="Wingdings" panose="05000000000000000000" pitchFamily="2" charset="2"/>
              </a:rPr>
              <a:t> significant differences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04084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71873-BA88-AF6A-C79A-7412917E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3D6AE16A-D8F4-5B99-3BDA-8E2584EB7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1DF8264B-DB97-BE4F-A1D1-616B894DC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6408CA30-E255-A425-94A3-E11595BF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71E3638E-DB72-447F-2181-B53FAD835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1574D000-8687-18ED-6C46-9A886019E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0EECD-3A56-6BCE-4121-DBFFB1CD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One-way ANOVA Test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5192B1-20E5-C135-C540-9FEFB761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Almost all of feature selected are significantly different in risk clusters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except </a:t>
            </a:r>
            <a:r>
              <a:rPr lang="en-US" b="1" dirty="0" err="1">
                <a:sym typeface="Wingdings" panose="05000000000000000000" pitchFamily="2" charset="2"/>
              </a:rPr>
              <a:t>job_freq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r>
              <a:rPr lang="en-US" dirty="0">
                <a:sym typeface="Wingdings" panose="05000000000000000000" pitchFamily="2" charset="2"/>
              </a:rPr>
              <a:t>This is all the one-way ANOVA test can give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To further investigate the issue, let’s look at the Post-Hoc Analysis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2B89A2-0567-436B-2BBB-AD5230DCD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426947"/>
              </p:ext>
            </p:extLst>
          </p:nvPr>
        </p:nvGraphicFramePr>
        <p:xfrm>
          <a:off x="674717" y="1825623"/>
          <a:ext cx="1084256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189">
                  <a:extLst>
                    <a:ext uri="{9D8B030D-6E8A-4147-A177-3AD203B41FA5}">
                      <a16:colId xmlns:a16="http://schemas.microsoft.com/office/drawing/2014/main" val="3004528705"/>
                    </a:ext>
                  </a:extLst>
                </a:gridCol>
                <a:gridCol w="3614189">
                  <a:extLst>
                    <a:ext uri="{9D8B030D-6E8A-4147-A177-3AD203B41FA5}">
                      <a16:colId xmlns:a16="http://schemas.microsoft.com/office/drawing/2014/main" val="3932251850"/>
                    </a:ext>
                  </a:extLst>
                </a:gridCol>
                <a:gridCol w="3614189">
                  <a:extLst>
                    <a:ext uri="{9D8B030D-6E8A-4147-A177-3AD203B41FA5}">
                      <a16:colId xmlns:a16="http://schemas.microsoft.com/office/drawing/2014/main" val="1109408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Rejected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sz="1800" b="1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93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Rejected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sz="1800" b="1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13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0.0000002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Rejected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sz="1800" b="1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75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city_pop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0.0005932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Rejected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sz="1800" b="1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3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job_freq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0.0585580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Failed to reject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sz="1800" b="1" kern="1200" baseline="-25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086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27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C614A-B557-805A-EF72-A91D4D13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14943BA6-1F27-035D-5479-2C387237A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FE29D06E-C631-6DD0-0F68-A2E6DF90D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19235862-5D50-6C61-FBA6-C9491C2C7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0DDCCB1E-73DF-F058-D16B-F375FC5C1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475622E5-E479-1886-DE8D-3094917D6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05B4E-8DB9-9FF3-3D38-8958922CB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Post-Hoc Analysis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CA09F9-7583-19AF-C595-67E867DF8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036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Following the ANOVA testing, we also aimed to see how significant is the </a:t>
            </a:r>
            <a:r>
              <a:rPr lang="en-US" i="1" dirty="0">
                <a:sym typeface="Wingdings" panose="05000000000000000000" pitchFamily="2" charset="2"/>
              </a:rPr>
              <a:t>risky-feature</a:t>
            </a:r>
            <a:r>
              <a:rPr lang="en-US" dirty="0">
                <a:sym typeface="Wingdings" panose="05000000000000000000" pitchFamily="2" charset="2"/>
              </a:rPr>
              <a:t> in a </a:t>
            </a:r>
            <a:r>
              <a:rPr lang="en-US" b="1" dirty="0">
                <a:sym typeface="Wingdings" panose="05000000000000000000" pitchFamily="2" charset="2"/>
              </a:rPr>
              <a:t>pair</a:t>
            </a:r>
            <a:r>
              <a:rPr lang="en-US" dirty="0">
                <a:sym typeface="Wingdings" panose="05000000000000000000" pitchFamily="2" charset="2"/>
              </a:rPr>
              <a:t> of risk clusters.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This is achievable through the Post-Hoc Tests</a:t>
            </a:r>
          </a:p>
          <a:p>
            <a:r>
              <a:rPr lang="en-US" dirty="0">
                <a:sym typeface="Wingdings" panose="05000000000000000000" pitchFamily="2" charset="2"/>
              </a:rPr>
              <a:t>In this case, let the Null Hypothesis be: </a:t>
            </a:r>
            <a:r>
              <a:rPr lang="en-US" b="1" dirty="0">
                <a:sym typeface="Wingdings" panose="05000000000000000000" pitchFamily="2" charset="2"/>
              </a:rPr>
              <a:t>“There is no significant difference in risk levels (based on the features) between </a:t>
            </a:r>
            <a:r>
              <a:rPr lang="en-US" b="1" i="1" dirty="0">
                <a:sym typeface="Wingdings" panose="05000000000000000000" pitchFamily="2" charset="2"/>
              </a:rPr>
              <a:t>two</a:t>
            </a:r>
            <a:r>
              <a:rPr lang="en-US" b="1" dirty="0">
                <a:sym typeface="Wingdings" panose="05000000000000000000" pitchFamily="2" charset="2"/>
              </a:rPr>
              <a:t> groups being compared”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We also aim to reject this hypothesis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 standard threshold is also set to 0.05</a:t>
            </a:r>
          </a:p>
          <a:p>
            <a:r>
              <a:rPr lang="en-US" dirty="0">
                <a:sym typeface="Wingdings" panose="05000000000000000000" pitchFamily="2" charset="2"/>
              </a:rPr>
              <a:t>Why also use Post-Hoc, if ANOVA tells you the difference?</a:t>
            </a: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ANOVA</a:t>
            </a:r>
            <a:r>
              <a:rPr lang="en-US" dirty="0">
                <a:sym typeface="Wingdings" panose="05000000000000000000" pitchFamily="2" charset="2"/>
              </a:rPr>
              <a:t>  answers “is there </a:t>
            </a:r>
            <a:r>
              <a:rPr lang="en-US" b="1" dirty="0">
                <a:sym typeface="Wingdings" panose="05000000000000000000" pitchFamily="2" charset="2"/>
              </a:rPr>
              <a:t>any</a:t>
            </a:r>
            <a:r>
              <a:rPr lang="en-US" dirty="0">
                <a:sym typeface="Wingdings" panose="05000000000000000000" pitchFamily="2" charset="2"/>
              </a:rPr>
              <a:t> difference?”</a:t>
            </a: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Post-Hoc</a:t>
            </a:r>
            <a:r>
              <a:rPr lang="en-US" dirty="0">
                <a:sym typeface="Wingdings" panose="05000000000000000000" pitchFamily="2" charset="2"/>
              </a:rPr>
              <a:t>  answers “</a:t>
            </a:r>
            <a:r>
              <a:rPr lang="en-US" b="1" dirty="0">
                <a:sym typeface="Wingdings" panose="05000000000000000000" pitchFamily="2" charset="2"/>
              </a:rPr>
              <a:t>where</a:t>
            </a:r>
            <a:r>
              <a:rPr lang="en-US" dirty="0">
                <a:sym typeface="Wingdings" panose="05000000000000000000" pitchFamily="2" charset="2"/>
              </a:rPr>
              <a:t> exactly is the difference?”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84469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BF9E7-6177-26E6-B133-B5CAA9BE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F91C75BA-6AB7-D5D0-B720-8B0712C9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5473C8BC-5153-7378-3AD5-79A01F912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279F4593-014E-FDC0-F7A7-557B8D2AC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FF456ECC-24FA-0745-890F-23DC490C4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A7274D35-501F-F8B3-8917-9AF119CB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B0AF4-6F39-B3A3-1FB6-A6C1DCE9B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Post-Hoc Analysis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069E34-D5EC-F78B-7D89-295E84381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42" y="1603915"/>
            <a:ext cx="12192000" cy="541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363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E2AC0-2B62-8C84-5529-EC880E2C3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FBB76596-B60D-1A9B-2AF8-5125193C9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94D4A995-3920-FCD3-F6C9-DC886F830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A68657A9-1D33-12B0-BF7E-ACB754CF2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97248BC6-2CAA-89A4-3D91-8B3C45DDE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31604B1B-D7A8-D83E-7621-3E1C90C62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F07CE-3D02-E743-8A44-95FB111C5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3D Clusters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94A4DB-88CF-1F7C-6DFD-AF006E8DF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623" y="1632935"/>
            <a:ext cx="8483755" cy="514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19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006263-07B8-9AEA-416A-B78F395D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975ADA0-2108-3FA4-7856-24F6D7718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DF8983-8FAC-FC9A-0FE8-335D18351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C84D8E-0733-86EE-F863-6605FC721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410094-C86C-E0AE-359A-448B61613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EE1676-FE59-FB51-2F51-13400B7AD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1DD9E0-5D65-F9B1-A55A-BBF5C4D90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FD1C9D4-E1BC-26AE-4A6A-FD498F175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B4818-14DA-5C5A-84F5-028A9658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Progress Summary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30307685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B61AB-893B-B1B1-A3B1-F4D778E1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D488CC88-6EFC-8F98-E6FB-4AD14BD15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A5091FF3-6175-998F-ECC6-1B93F9B47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3E68F721-050F-5285-F5B1-69576DD25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06351CA-D3B1-6E3A-71C3-787961BC2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06373-DFBB-237B-1258-089318B40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42914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Progress Sum-up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D09CE-A42A-752E-DE31-10224AB4E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4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9D0596-44AF-155C-3ACA-E8A7410D1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893857"/>
              </p:ext>
            </p:extLst>
          </p:nvPr>
        </p:nvGraphicFramePr>
        <p:xfrm>
          <a:off x="356838" y="1574311"/>
          <a:ext cx="11441152" cy="5191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421">
                  <a:extLst>
                    <a:ext uri="{9D8B030D-6E8A-4147-A177-3AD203B41FA5}">
                      <a16:colId xmlns:a16="http://schemas.microsoft.com/office/drawing/2014/main" val="3524648092"/>
                    </a:ext>
                  </a:extLst>
                </a:gridCol>
                <a:gridCol w="1784195">
                  <a:extLst>
                    <a:ext uri="{9D8B030D-6E8A-4147-A177-3AD203B41FA5}">
                      <a16:colId xmlns:a16="http://schemas.microsoft.com/office/drawing/2014/main" val="4161565362"/>
                    </a:ext>
                  </a:extLst>
                </a:gridCol>
                <a:gridCol w="4332248">
                  <a:extLst>
                    <a:ext uri="{9D8B030D-6E8A-4147-A177-3AD203B41FA5}">
                      <a16:colId xmlns:a16="http://schemas.microsoft.com/office/drawing/2014/main" val="3562809744"/>
                    </a:ext>
                  </a:extLst>
                </a:gridCol>
                <a:gridCol w="2860288">
                  <a:extLst>
                    <a:ext uri="{9D8B030D-6E8A-4147-A177-3AD203B41FA5}">
                      <a16:colId xmlns:a16="http://schemas.microsoft.com/office/drawing/2014/main" val="4122426868"/>
                    </a:ext>
                  </a:extLst>
                </a:gridCol>
              </a:tblGrid>
              <a:tr h="39326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</a:t>
                      </a:r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(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hrs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Challenges Faced</a:t>
                      </a:r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Member(s)</a:t>
                      </a:r>
                      <a:endParaRPr lang="en-GB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0251"/>
                  </a:ext>
                </a:extLst>
              </a:tr>
              <a:tr h="589286">
                <a:tc>
                  <a:txBody>
                    <a:bodyPr/>
                    <a:lstStyle/>
                    <a:p>
                      <a:pPr algn="justLow"/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Related studies found only goes to 2021 and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Raed Alghamdi (Primary)</a:t>
                      </a:r>
                    </a:p>
                    <a:p>
                      <a:pPr algn="l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Nawaf Alshehri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51152"/>
                  </a:ext>
                </a:extLst>
              </a:tr>
              <a:tr h="399826">
                <a:tc>
                  <a:txBody>
                    <a:bodyPr/>
                    <a:lstStyle/>
                    <a:p>
                      <a:pPr algn="justLow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SOA Replication</a:t>
                      </a:r>
                      <a:endParaRPr lang="en-US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Raed Alghamdi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65838"/>
                  </a:ext>
                </a:extLst>
              </a:tr>
              <a:tr h="732420">
                <a:tc>
                  <a:txBody>
                    <a:bodyPr/>
                    <a:lstStyle/>
                    <a:p>
                      <a:pPr marL="0" marR="0" lvl="0" indent="0" algn="justLow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Analysis and Visualization</a:t>
                      </a:r>
                      <a:endParaRPr lang="en-GB" sz="16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How to convey good analysis that can capture the audience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Nawaf Alshehri</a:t>
                      </a:r>
                      <a:r>
                        <a:rPr lang="ar-SA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(Primary)</a:t>
                      </a:r>
                    </a:p>
                    <a:p>
                      <a:pPr algn="l"/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Eyad Alghamdi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53071"/>
                  </a:ext>
                </a:extLst>
              </a:tr>
              <a:tr h="786589">
                <a:tc>
                  <a:txBody>
                    <a:bodyPr/>
                    <a:lstStyle/>
                    <a:p>
                      <a:pPr algn="justLow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 Engineering and Selection</a:t>
                      </a:r>
                      <a:endParaRPr lang="en-GB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Creating new features in hope to add more insights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Selecting the valuable features to the models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Nawaf Alshehri</a:t>
                      </a:r>
                      <a:r>
                        <a:rPr lang="ar-SA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(Primary)</a:t>
                      </a:r>
                    </a:p>
                    <a:p>
                      <a:pPr algn="l"/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Eyad Alghamdi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740008"/>
                  </a:ext>
                </a:extLst>
              </a:tr>
              <a:tr h="786589">
                <a:tc>
                  <a:txBody>
                    <a:bodyPr/>
                    <a:lstStyle/>
                    <a:p>
                      <a:pPr algn="justLow"/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Classifier Implementation and Interpretation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Choosing the correct tools to trace the model’s performance on which features were deemed important.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Eyad Alghamdi (Primary)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Raed Alghamdi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Nawaf Alshehri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213900"/>
                  </a:ext>
                </a:extLst>
              </a:tr>
              <a:tr h="589286">
                <a:tc>
                  <a:txBody>
                    <a:bodyPr/>
                    <a:lstStyle/>
                    <a:p>
                      <a:pPr algn="justLow"/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Cluster Implementation and Validation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 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Algorithm’s Stochastic Nature</a:t>
                      </a:r>
                    </a:p>
                    <a:p>
                      <a:pPr algn="l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What methods to use for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Eyad Alghamdi (Primary)</a:t>
                      </a:r>
                    </a:p>
                    <a:p>
                      <a:pPr algn="l"/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697328"/>
                  </a:ext>
                </a:extLst>
              </a:tr>
              <a:tr h="841838">
                <a:tc>
                  <a:txBody>
                    <a:bodyPr/>
                    <a:lstStyle/>
                    <a:p>
                      <a:pPr algn="justLow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 hrs</a:t>
                      </a:r>
                    </a:p>
                    <a:p>
                      <a:pPr algn="l"/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Including mid-</a:t>
                      </a:r>
                      <a:r>
                        <a:rPr lang="en-GB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sem</a:t>
                      </a:r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Eyad Alghamdi (Primary)</a:t>
                      </a:r>
                    </a:p>
                    <a:p>
                      <a:pPr algn="l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Raed Alghamdi</a:t>
                      </a:r>
                    </a:p>
                    <a:p>
                      <a:pPr algn="l"/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Nawaf Alshehri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110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334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7160C-9C12-B4F1-4203-B9756885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C6FCACA7-5734-3A55-F512-8BC3D726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FB45F5B8-D76C-A450-B315-A062236EA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2FF622B7-97F9-C4AE-A2E4-A55AF9B1E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A27230C2-BBCA-1D91-3CB3-2577CCB6F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6CD466C2-29BF-1660-6039-2FC79151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01BA1-FE26-8EFC-FD2E-8AC3B29C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Next Steps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F4D2BB1-21ED-5B16-AE21-C6B2E2E5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915"/>
          </a:xfrm>
        </p:spPr>
        <p:txBody>
          <a:bodyPr>
            <a:normAutofit/>
          </a:bodyPr>
          <a:lstStyle/>
          <a:p>
            <a:r>
              <a:rPr lang="en-US" dirty="0"/>
              <a:t>Enhancing the performance of the </a:t>
            </a:r>
            <a:r>
              <a:rPr lang="en-US" dirty="0" err="1"/>
              <a:t>XGBoost</a:t>
            </a:r>
            <a:r>
              <a:rPr lang="en-US" dirty="0"/>
              <a:t> if possible by tuning the hyperparameters more.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Introducing new clustering models such as GMM to compare in terms of performance to K-Means</a:t>
            </a:r>
          </a:p>
          <a:p>
            <a:pPr lvl="1"/>
            <a:r>
              <a:rPr lang="en-US" dirty="0"/>
              <a:t>Could give more and better insights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Better feature selection and feature engineering related to risk activities will more likely improve the clustering performance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450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5A733-FAE9-4E95-D267-DC417B3A1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43" name="Rectangle 8242">
            <a:extLst>
              <a:ext uri="{FF2B5EF4-FFF2-40B4-BE49-F238E27FC236}">
                <a16:creationId xmlns:a16="http://schemas.microsoft.com/office/drawing/2014/main" id="{6E4F859E-45A2-5D19-8A54-00A3AD7D9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244" name="Rectangle 8243">
            <a:extLst>
              <a:ext uri="{FF2B5EF4-FFF2-40B4-BE49-F238E27FC236}">
                <a16:creationId xmlns:a16="http://schemas.microsoft.com/office/drawing/2014/main" id="{8CF7B8B7-2DEC-5832-661A-F75A88DCA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5" name="Rectangle 8244">
            <a:extLst>
              <a:ext uri="{FF2B5EF4-FFF2-40B4-BE49-F238E27FC236}">
                <a16:creationId xmlns:a16="http://schemas.microsoft.com/office/drawing/2014/main" id="{D41FE4F8-E2B1-CEDE-5ED0-97C170BD6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6" name="Rectangle 8245">
            <a:extLst>
              <a:ext uri="{FF2B5EF4-FFF2-40B4-BE49-F238E27FC236}">
                <a16:creationId xmlns:a16="http://schemas.microsoft.com/office/drawing/2014/main" id="{AAC42B05-C300-F29D-BFF0-CAAF70CDE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47" name="Rectangle 8246">
            <a:extLst>
              <a:ext uri="{FF2B5EF4-FFF2-40B4-BE49-F238E27FC236}">
                <a16:creationId xmlns:a16="http://schemas.microsoft.com/office/drawing/2014/main" id="{ACB1E53C-DC23-E8D2-442B-6C9690FDC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CF7A9-4E08-0075-2A0C-25B5C54A1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At last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7903B28-AAFF-5A94-3AF8-7B47B82AB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9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4000" b="1" dirty="0"/>
              <a:t>Thank you for listening!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dirty="0"/>
              <a:t>We appreciate any feedback regarding any stage of the project.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34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2703</TotalTime>
  <Words>2139</Words>
  <Application>Microsoft Office PowerPoint</Application>
  <PresentationFormat>Widescreen</PresentationFormat>
  <Paragraphs>366</Paragraphs>
  <Slides>41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Arial</vt:lpstr>
      <vt:lpstr>Calibri</vt:lpstr>
      <vt:lpstr>Cambria Math</vt:lpstr>
      <vt:lpstr>Times New Roman</vt:lpstr>
      <vt:lpstr>Wingdings</vt:lpstr>
      <vt:lpstr>Office Theme</vt:lpstr>
      <vt:lpstr>Analyzing Fraudulent Credit Card Transaction</vt:lpstr>
      <vt:lpstr>Introduction</vt:lpstr>
      <vt:lpstr>Project Idea</vt:lpstr>
      <vt:lpstr>Things don’t always go according to plan!</vt:lpstr>
      <vt:lpstr>Literature Review</vt:lpstr>
      <vt:lpstr>Literature Review</vt:lpstr>
      <vt:lpstr>The Gap</vt:lpstr>
      <vt:lpstr>State of the Art (SOA)</vt:lpstr>
      <vt:lpstr>State of the Art (SOA)</vt:lpstr>
      <vt:lpstr>Project Workflow / Pipeline</vt:lpstr>
      <vt:lpstr>Workflow</vt:lpstr>
      <vt:lpstr>Dataset</vt:lpstr>
      <vt:lpstr>Exploring the Data: Initial overview</vt:lpstr>
      <vt:lpstr>Data Exploration</vt:lpstr>
      <vt:lpstr>Categorical Feature: Category</vt:lpstr>
      <vt:lpstr>Categorical Feature: Age Group</vt:lpstr>
      <vt:lpstr>Numerical Features: Age and Amt</vt:lpstr>
      <vt:lpstr>DateTime Feature: trans_date_trans_time</vt:lpstr>
      <vt:lpstr>DateTime Feature: trans_date_trans_time</vt:lpstr>
      <vt:lpstr>Feature Selection and Data Preprocessing</vt:lpstr>
      <vt:lpstr>Feature Selection and Data Preprocessing</vt:lpstr>
      <vt:lpstr>Classifier and Interpretation</vt:lpstr>
      <vt:lpstr>Classifier</vt:lpstr>
      <vt:lpstr>XGBoost Experiments</vt:lpstr>
      <vt:lpstr>Base XGBoost’s Interpretability</vt:lpstr>
      <vt:lpstr>SHAP Analysis Summary Plot </vt:lpstr>
      <vt:lpstr>Precision and Recall Tradeoff </vt:lpstr>
      <vt:lpstr>Precision and Recall Tradeoff</vt:lpstr>
      <vt:lpstr>Clustering and Interpretation</vt:lpstr>
      <vt:lpstr>Clustering Risk labels</vt:lpstr>
      <vt:lpstr>Validating Clusters Result</vt:lpstr>
      <vt:lpstr>Histogram Analysis</vt:lpstr>
      <vt:lpstr>One-way ANOVA Test</vt:lpstr>
      <vt:lpstr>One-way ANOVA Test</vt:lpstr>
      <vt:lpstr>Post-Hoc Analysis</vt:lpstr>
      <vt:lpstr>Post-Hoc Analysis</vt:lpstr>
      <vt:lpstr>3D Clusters Visualization</vt:lpstr>
      <vt:lpstr>Progress Summary &amp; Next Steps</vt:lpstr>
      <vt:lpstr>Progress Sum-up</vt:lpstr>
      <vt:lpstr>Next Steps</vt:lpstr>
      <vt:lpstr>At last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KM</dc:creator>
  <cp:lastModifiedBy>EA</cp:lastModifiedBy>
  <cp:revision>86</cp:revision>
  <dcterms:created xsi:type="dcterms:W3CDTF">2025-04-22T17:46:14Z</dcterms:created>
  <dcterms:modified xsi:type="dcterms:W3CDTF">2025-05-05T15:12:24Z</dcterms:modified>
</cp:coreProperties>
</file>